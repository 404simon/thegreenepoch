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EBDAF8-DCE1-8083-F91B-9E73BEACC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30B9936-5B24-BA1E-2601-3FEE7F1A4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B8707E-6CFB-C616-2B9F-A6A0ECCAC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DCA0-CB38-4624-ADE0-A982348E0789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E6E5D6-313F-AB2D-5855-A5E3E197F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4E652E-9BDA-93B4-1570-569F88921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B955-F997-40AD-94F6-D06AE73720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705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80817-F320-2926-B7B1-D7F053ED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308535-CDBB-D7C0-E852-72077B7B9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341C1F-3078-33B8-0D7D-5B5014130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DCA0-CB38-4624-ADE0-A982348E0789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AB45F6-48E6-F192-664E-6CA549B7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CBD942-59E9-61CD-A266-91538BF0B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B955-F997-40AD-94F6-D06AE73720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9949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215956-63DE-F3A3-DFEF-F97F13E1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AFB849-7C1B-0E84-7EE1-40A1A8351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238D7F-44ED-7301-B4C8-84DC1ADED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DCA0-CB38-4624-ADE0-A982348E0789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F45D37-7BDB-8FE5-79FB-E1F791A3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2316AA-C140-95E1-328A-EF3DDF6C1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B955-F997-40AD-94F6-D06AE73720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534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F9EF2-3C49-68F4-1170-9219E480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08C4B1-16A5-0D95-42E9-D93D5F2A4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FD50CE-10AA-7D3B-DE2C-25464AA99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2D452A-3456-DA36-814F-E3615C74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DCA0-CB38-4624-ADE0-A982348E0789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25ECF1-BDFB-4078-49A3-CFF8FE680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4A8720-ABA7-1E19-E9B8-07879EFA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B955-F997-40AD-94F6-D06AE73720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812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005519-073C-B7AD-862A-646FBC225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A21B197-732D-E407-011B-DB8662E55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C21BDC5-0E65-F5D5-BFA6-B729E6544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0FDC156-1ED6-42F9-BAEC-AC57DAE1E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4B2ACA1-0743-5F25-C170-83E8EFB9C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3FA56BA-6766-E23C-707F-45AE6726E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DCA0-CB38-4624-ADE0-A982348E0789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70D57A2-C8D3-9853-C540-4B90E9A3D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A7B9C84-6877-8398-1706-9129D84B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B955-F997-40AD-94F6-D06AE73720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424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DB2261-647C-A0B8-446C-4BC7946EA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262AB61-BC15-5FB9-F167-4BAD53576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DCA0-CB38-4624-ADE0-A982348E0789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900C9AA-8986-CEAE-29D4-B58668F03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C382CF-9252-5DFC-9893-0F69AE8E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B955-F997-40AD-94F6-D06AE73720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6866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35288A1-757E-734D-E4CC-C3CF5C088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DCA0-CB38-4624-ADE0-A982348E0789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E98EEC5-3BEC-113C-61AD-BEF09A88C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CF2A1AA-3644-9D81-2FB8-86C54924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B955-F997-40AD-94F6-D06AE73720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3474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8D2A8E-F17D-BA00-CEE9-B0BF0BA02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8E3E1D-1670-6082-5396-740ABC0BA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61B7F2-0453-9E83-BEAB-3D3C7103A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04134D-9E8D-0522-572C-290BE4601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DCA0-CB38-4624-ADE0-A982348E0789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708871-7D4C-0F5A-EEEC-EBF30E61C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A61C198-8A5A-C103-ACE6-BAF113AF3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B955-F997-40AD-94F6-D06AE73720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5609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1B1D93-B4DE-4B1C-1519-4FE1400E3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A847688-A173-B5CC-E4EF-B5462A986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1D00D8-B995-A0B4-4C6C-6262DB6FF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22E88F-2DC9-DFB3-9F36-6967FCCF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DCA0-CB38-4624-ADE0-A982348E0789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1D1B9E0-8C7C-5668-725E-FF1E38713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5717A2A-AC2B-75E4-FD7E-B875FF175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B955-F997-40AD-94F6-D06AE73720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4094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8ACD67-EC41-5050-4A83-914AC2307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13BD9D4-8A57-2D96-62E7-E3BF4FE00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027D80-B4D7-2B23-727A-8DAEA96D1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DCA0-CB38-4624-ADE0-A982348E0789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F33DF2-A3C6-ED4D-2EE3-A6C81A7D6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389E09-4A29-09E9-1FB3-D32ECD782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B955-F997-40AD-94F6-D06AE73720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8084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6AB316B-3D33-C564-5AEC-D0A65621EA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0B8F7A3-B208-59FC-DABB-855D09834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C3E2DB-8A73-40BD-4718-55D418C18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0DCA0-CB38-4624-ADE0-A982348E0789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B52361-13CC-177D-6027-503AA54B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3CE3D0-AE32-6B52-3A13-65310636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D4B955-F997-40AD-94F6-D06AE73720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1752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6BAE6B2-80C1-42C9-A300-D5F3014DE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0D35D7-5213-74D7-D43B-E99C07D86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B4A94A-0E9C-039E-81A7-3737610CD6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C0DCA0-CB38-4624-ADE0-A982348E0789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647135-138B-144D-AA17-A5AC2C2E13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0DEBF40-8FF3-FF70-580D-66A4FFFED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D4B955-F997-40AD-94F6-D06AE73720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2248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B3B01-6A00-67CA-C354-737174E8F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FEB1D506-51E5-2558-2CCE-27D77179D24C}"/>
              </a:ext>
            </a:extLst>
          </p:cNvPr>
          <p:cNvGrpSpPr/>
          <p:nvPr/>
        </p:nvGrpSpPr>
        <p:grpSpPr>
          <a:xfrm>
            <a:off x="9624736" y="194733"/>
            <a:ext cx="2048933" cy="6468534"/>
            <a:chOff x="254000" y="248789"/>
            <a:chExt cx="2201757" cy="6307043"/>
          </a:xfrm>
          <a:solidFill>
            <a:schemeClr val="accent2">
              <a:lumMod val="50000"/>
            </a:schemeClr>
          </a:solidFill>
        </p:grpSpPr>
        <p:sp>
          <p:nvSpPr>
            <p:cNvPr id="111" name="Rechteck 110">
              <a:extLst>
                <a:ext uri="{FF2B5EF4-FFF2-40B4-BE49-F238E27FC236}">
                  <a16:creationId xmlns:a16="http://schemas.microsoft.com/office/drawing/2014/main" id="{1FB1897E-D5E4-B7CC-A3A5-F67FA8150557}"/>
                </a:ext>
              </a:extLst>
            </p:cNvPr>
            <p:cNvSpPr/>
            <p:nvPr/>
          </p:nvSpPr>
          <p:spPr>
            <a:xfrm>
              <a:off x="254000" y="248789"/>
              <a:ext cx="2201757" cy="63070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2" name="Rechteck 111">
              <a:extLst>
                <a:ext uri="{FF2B5EF4-FFF2-40B4-BE49-F238E27FC236}">
                  <a16:creationId xmlns:a16="http://schemas.microsoft.com/office/drawing/2014/main" id="{DDB51FE9-9BE6-BB90-1B64-4AFFAA491ED2}"/>
                </a:ext>
              </a:extLst>
            </p:cNvPr>
            <p:cNvSpPr/>
            <p:nvPr/>
          </p:nvSpPr>
          <p:spPr>
            <a:xfrm>
              <a:off x="262465" y="248789"/>
              <a:ext cx="2193292" cy="37798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b="1" dirty="0"/>
                <a:t>Open Tasks (Future)</a:t>
              </a:r>
            </a:p>
          </p:txBody>
        </p:sp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261B05DE-48E7-ED97-4418-F612F6DAA577}"/>
              </a:ext>
            </a:extLst>
          </p:cNvPr>
          <p:cNvGrpSpPr/>
          <p:nvPr/>
        </p:nvGrpSpPr>
        <p:grpSpPr>
          <a:xfrm>
            <a:off x="2771309" y="204376"/>
            <a:ext cx="2048933" cy="6468534"/>
            <a:chOff x="254000" y="248789"/>
            <a:chExt cx="2201757" cy="6307043"/>
          </a:xfrm>
          <a:solidFill>
            <a:schemeClr val="accent6">
              <a:lumMod val="75000"/>
            </a:schemeClr>
          </a:solidFill>
        </p:grpSpPr>
        <p:sp>
          <p:nvSpPr>
            <p:cNvPr id="102" name="Rechteck 101">
              <a:extLst>
                <a:ext uri="{FF2B5EF4-FFF2-40B4-BE49-F238E27FC236}">
                  <a16:creationId xmlns:a16="http://schemas.microsoft.com/office/drawing/2014/main" id="{08930C95-51E3-AF3C-D158-718265EC723E}"/>
                </a:ext>
              </a:extLst>
            </p:cNvPr>
            <p:cNvSpPr/>
            <p:nvPr/>
          </p:nvSpPr>
          <p:spPr>
            <a:xfrm>
              <a:off x="254000" y="248789"/>
              <a:ext cx="2201757" cy="63070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3" name="Rechteck 102">
              <a:extLst>
                <a:ext uri="{FF2B5EF4-FFF2-40B4-BE49-F238E27FC236}">
                  <a16:creationId xmlns:a16="http://schemas.microsoft.com/office/drawing/2014/main" id="{2BCF42CF-1E96-78D0-063C-64D21313CBA4}"/>
                </a:ext>
              </a:extLst>
            </p:cNvPr>
            <p:cNvSpPr/>
            <p:nvPr/>
          </p:nvSpPr>
          <p:spPr>
            <a:xfrm>
              <a:off x="262465" y="248789"/>
              <a:ext cx="2193292" cy="37592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b="1" dirty="0"/>
                <a:t>Data Collection</a:t>
              </a:r>
            </a:p>
          </p:txBody>
        </p:sp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2C1D6548-E4BB-917A-353A-A8753DD5D72A}"/>
              </a:ext>
            </a:extLst>
          </p:cNvPr>
          <p:cNvGrpSpPr/>
          <p:nvPr/>
        </p:nvGrpSpPr>
        <p:grpSpPr>
          <a:xfrm>
            <a:off x="5058664" y="204376"/>
            <a:ext cx="2048933" cy="6468534"/>
            <a:chOff x="254000" y="248789"/>
            <a:chExt cx="2201757" cy="6307043"/>
          </a:xfrm>
          <a:solidFill>
            <a:schemeClr val="accent6">
              <a:lumMod val="50000"/>
            </a:schemeClr>
          </a:solidFill>
        </p:grpSpPr>
        <p:sp>
          <p:nvSpPr>
            <p:cNvPr id="105" name="Rechteck 104">
              <a:extLst>
                <a:ext uri="{FF2B5EF4-FFF2-40B4-BE49-F238E27FC236}">
                  <a16:creationId xmlns:a16="http://schemas.microsoft.com/office/drawing/2014/main" id="{E3B5645D-48AD-08F7-E38E-B38109164CCB}"/>
                </a:ext>
              </a:extLst>
            </p:cNvPr>
            <p:cNvSpPr/>
            <p:nvPr/>
          </p:nvSpPr>
          <p:spPr>
            <a:xfrm>
              <a:off x="254000" y="248789"/>
              <a:ext cx="2201757" cy="63070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DC0FDFFA-FD7D-60E0-D1B0-111A716AB079}"/>
                </a:ext>
              </a:extLst>
            </p:cNvPr>
            <p:cNvSpPr/>
            <p:nvPr/>
          </p:nvSpPr>
          <p:spPr>
            <a:xfrm>
              <a:off x="262465" y="248789"/>
              <a:ext cx="2193292" cy="37592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b="1" dirty="0" err="1"/>
                <a:t>Conceptual</a:t>
              </a:r>
              <a:r>
                <a:rPr lang="de-DE" sz="1600" b="1" dirty="0"/>
                <a:t> Model</a:t>
              </a:r>
            </a:p>
          </p:txBody>
        </p:sp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D94D383F-9005-056B-A079-3DDBD04B63A0}"/>
              </a:ext>
            </a:extLst>
          </p:cNvPr>
          <p:cNvGrpSpPr/>
          <p:nvPr/>
        </p:nvGrpSpPr>
        <p:grpSpPr>
          <a:xfrm>
            <a:off x="7341700" y="196851"/>
            <a:ext cx="2048933" cy="6468534"/>
            <a:chOff x="254000" y="248789"/>
            <a:chExt cx="2201757" cy="6307043"/>
          </a:xfrm>
          <a:solidFill>
            <a:schemeClr val="accent1">
              <a:lumMod val="75000"/>
            </a:schemeClr>
          </a:solidFill>
        </p:grpSpPr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A86D149B-EEB1-2541-2F46-B9FC1A387159}"/>
                </a:ext>
              </a:extLst>
            </p:cNvPr>
            <p:cNvSpPr/>
            <p:nvPr/>
          </p:nvSpPr>
          <p:spPr>
            <a:xfrm>
              <a:off x="254000" y="248789"/>
              <a:ext cx="2201757" cy="63070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9" name="Rechteck 108">
              <a:extLst>
                <a:ext uri="{FF2B5EF4-FFF2-40B4-BE49-F238E27FC236}">
                  <a16:creationId xmlns:a16="http://schemas.microsoft.com/office/drawing/2014/main" id="{D068D5AE-4F50-91D7-7282-B176A28C4664}"/>
                </a:ext>
              </a:extLst>
            </p:cNvPr>
            <p:cNvSpPr/>
            <p:nvPr/>
          </p:nvSpPr>
          <p:spPr>
            <a:xfrm>
              <a:off x="262465" y="248789"/>
              <a:ext cx="2193292" cy="38325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b="1" dirty="0"/>
                <a:t>Model </a:t>
              </a:r>
              <a:r>
                <a:rPr lang="de-DE" sz="1600" b="1" dirty="0" err="1"/>
                <a:t>Impl</a:t>
              </a:r>
              <a:r>
                <a:rPr lang="de-DE" sz="1600" b="1" dirty="0"/>
                <a:t>. &amp; </a:t>
              </a:r>
              <a:r>
                <a:rPr lang="de-DE" sz="1600" b="1" dirty="0" err="1"/>
                <a:t>Verif</a:t>
              </a:r>
              <a:r>
                <a:rPr lang="de-DE" sz="1600" b="1" dirty="0"/>
                <a:t>.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AA5A020B-F946-5F0F-D82F-51916C86B309}"/>
              </a:ext>
            </a:extLst>
          </p:cNvPr>
          <p:cNvGrpSpPr/>
          <p:nvPr/>
        </p:nvGrpSpPr>
        <p:grpSpPr>
          <a:xfrm>
            <a:off x="483954" y="196851"/>
            <a:ext cx="2048933" cy="6468534"/>
            <a:chOff x="254000" y="248789"/>
            <a:chExt cx="2201757" cy="6307043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98" name="Rechteck 97">
              <a:extLst>
                <a:ext uri="{FF2B5EF4-FFF2-40B4-BE49-F238E27FC236}">
                  <a16:creationId xmlns:a16="http://schemas.microsoft.com/office/drawing/2014/main" id="{78A9207F-74D6-1E69-D3EF-827D9EAAB5A4}"/>
                </a:ext>
              </a:extLst>
            </p:cNvPr>
            <p:cNvSpPr/>
            <p:nvPr/>
          </p:nvSpPr>
          <p:spPr>
            <a:xfrm>
              <a:off x="254000" y="248789"/>
              <a:ext cx="2201757" cy="630704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EC1565AB-0150-6593-3A39-FE432C9E4C96}"/>
                </a:ext>
              </a:extLst>
            </p:cNvPr>
            <p:cNvSpPr/>
            <p:nvPr/>
          </p:nvSpPr>
          <p:spPr>
            <a:xfrm>
              <a:off x="262465" y="248789"/>
              <a:ext cx="2193292" cy="37592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b="1" dirty="0">
                  <a:solidFill>
                    <a:schemeClr val="tx1"/>
                  </a:solidFill>
                </a:rPr>
                <a:t>Model Definition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C9BFAD25-3040-6E4E-32FA-B13388A981E3}"/>
              </a:ext>
            </a:extLst>
          </p:cNvPr>
          <p:cNvGrpSpPr/>
          <p:nvPr/>
        </p:nvGrpSpPr>
        <p:grpSpPr>
          <a:xfrm>
            <a:off x="690712" y="1329439"/>
            <a:ext cx="1634066" cy="1212740"/>
            <a:chOff x="762001" y="676655"/>
            <a:chExt cx="1634066" cy="1212740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C57EC1EC-18D1-6791-30AD-F4AEF0E9229F}"/>
                </a:ext>
              </a:extLst>
            </p:cNvPr>
            <p:cNvGrpSpPr/>
            <p:nvPr/>
          </p:nvGrpSpPr>
          <p:grpSpPr>
            <a:xfrm>
              <a:off x="762001" y="676655"/>
              <a:ext cx="1634066" cy="1207008"/>
              <a:chOff x="677333" y="569114"/>
              <a:chExt cx="1634067" cy="10515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47FA21EA-D4CF-9329-791B-89E94B1FFC1F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9772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7DE66561-D34C-A1F1-A3B9-316F5ADD1FA7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Model </a:t>
                </a:r>
                <a:r>
                  <a:rPr lang="de-DE" sz="1200" b="1" dirty="0" err="1"/>
                  <a:t>Requirements</a:t>
                </a:r>
                <a:r>
                  <a:rPr lang="de-DE" sz="1200" b="1" dirty="0"/>
                  <a:t> Definition</a:t>
                </a:r>
              </a:p>
            </p:txBody>
          </p:sp>
        </p:grp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FC203A40-24D1-FE84-D9A0-DAFBE9F528CD}"/>
                </a:ext>
              </a:extLst>
            </p:cNvPr>
            <p:cNvSpPr txBox="1"/>
            <p:nvPr/>
          </p:nvSpPr>
          <p:spPr>
            <a:xfrm>
              <a:off x="1088136" y="1150731"/>
              <a:ext cx="987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E044CDBA-5F4A-4451-B0CB-A2D1A4AA5DB0}"/>
              </a:ext>
            </a:extLst>
          </p:cNvPr>
          <p:cNvGrpSpPr/>
          <p:nvPr/>
        </p:nvGrpSpPr>
        <p:grpSpPr>
          <a:xfrm>
            <a:off x="690712" y="2705536"/>
            <a:ext cx="1634066" cy="1212740"/>
            <a:chOff x="762001" y="2216260"/>
            <a:chExt cx="1634066" cy="1212740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585490FD-3CCA-60FE-112C-7099F418CEEC}"/>
                </a:ext>
              </a:extLst>
            </p:cNvPr>
            <p:cNvGrpSpPr/>
            <p:nvPr/>
          </p:nvGrpSpPr>
          <p:grpSpPr>
            <a:xfrm>
              <a:off x="762001" y="2216260"/>
              <a:ext cx="1634066" cy="1207008"/>
              <a:chOff x="677333" y="569114"/>
              <a:chExt cx="1634067" cy="10515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7C5015CF-F325-DBCF-EA83-A21031A60EC0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9772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88CD0A93-4C5D-E51E-9CA1-DA840CA63230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Project </a:t>
                </a:r>
                <a:r>
                  <a:rPr lang="de-DE" sz="1200" b="1" dirty="0" err="1"/>
                  <a:t>Organization</a:t>
                </a:r>
                <a:endParaRPr lang="de-DE" sz="1200" b="1" dirty="0"/>
              </a:p>
            </p:txBody>
          </p:sp>
        </p:grp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39642F5C-397F-2C23-BFD3-AF81908BAB15}"/>
                </a:ext>
              </a:extLst>
            </p:cNvPr>
            <p:cNvSpPr txBox="1"/>
            <p:nvPr/>
          </p:nvSpPr>
          <p:spPr>
            <a:xfrm>
              <a:off x="1088136" y="2690336"/>
              <a:ext cx="987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21B1C18-C3BA-63E7-CF6D-5796059628B4}"/>
              </a:ext>
            </a:extLst>
          </p:cNvPr>
          <p:cNvGrpSpPr/>
          <p:nvPr/>
        </p:nvGrpSpPr>
        <p:grpSpPr>
          <a:xfrm>
            <a:off x="2978743" y="1336424"/>
            <a:ext cx="1634066" cy="781853"/>
            <a:chOff x="3031067" y="547226"/>
            <a:chExt cx="1634066" cy="781853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B8EAF02E-DAF9-9200-EBFC-A0B4F1F683C7}"/>
                </a:ext>
              </a:extLst>
            </p:cNvPr>
            <p:cNvGrpSpPr/>
            <p:nvPr/>
          </p:nvGrpSpPr>
          <p:grpSpPr>
            <a:xfrm>
              <a:off x="3031067" y="547226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D4AE407B-1BF8-CB9E-ED32-73BE6B9A1209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9E2A7D99-B815-0E10-9A04-DB2D02D88DBC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 err="1"/>
                  <a:t>Electricity</a:t>
                </a:r>
                <a:r>
                  <a:rPr lang="de-DE" sz="1200" b="1" dirty="0"/>
                  <a:t> Maps Scraper</a:t>
                </a:r>
              </a:p>
            </p:txBody>
          </p:sp>
        </p:grp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83D53A62-C41C-A804-DC18-D68992DF9E27}"/>
                </a:ext>
              </a:extLst>
            </p:cNvPr>
            <p:cNvSpPr txBox="1"/>
            <p:nvPr/>
          </p:nvSpPr>
          <p:spPr>
            <a:xfrm>
              <a:off x="3357202" y="1021302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B8F585C6-2613-DF70-E45C-CE36DE5B8D6B}"/>
              </a:ext>
            </a:extLst>
          </p:cNvPr>
          <p:cNvGrpSpPr/>
          <p:nvPr/>
        </p:nvGrpSpPr>
        <p:grpSpPr>
          <a:xfrm>
            <a:off x="2978743" y="2314610"/>
            <a:ext cx="1634066" cy="781853"/>
            <a:chOff x="762001" y="2216260"/>
            <a:chExt cx="1634066" cy="781853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6F81FA6E-6404-03D8-DA75-7A822BEB46E0}"/>
                </a:ext>
              </a:extLst>
            </p:cNvPr>
            <p:cNvGrpSpPr/>
            <p:nvPr/>
          </p:nvGrpSpPr>
          <p:grpSpPr>
            <a:xfrm>
              <a:off x="762001" y="2216260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D4AACEEB-8B6C-B106-F199-9FC69E041ABB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956B32F2-29F6-9C68-F81E-A469FD7E9C4F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Parameter Research Kimi K2.6</a:t>
                </a:r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35D7912E-586F-36A0-7762-F3FF7A85A697}"/>
                </a:ext>
              </a:extLst>
            </p:cNvPr>
            <p:cNvSpPr txBox="1"/>
            <p:nvPr/>
          </p:nvSpPr>
          <p:spPr>
            <a:xfrm>
              <a:off x="1088136" y="2690336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395776C-C087-82FA-8C0E-BEB7E288252F}"/>
              </a:ext>
            </a:extLst>
          </p:cNvPr>
          <p:cNvGrpSpPr/>
          <p:nvPr/>
        </p:nvGrpSpPr>
        <p:grpSpPr>
          <a:xfrm>
            <a:off x="2978743" y="4262800"/>
            <a:ext cx="1634066" cy="781853"/>
            <a:chOff x="762001" y="2216260"/>
            <a:chExt cx="1634066" cy="781853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C5E8AC25-05B9-A8E9-CCC1-3A2C431B6BFD}"/>
                </a:ext>
              </a:extLst>
            </p:cNvPr>
            <p:cNvGrpSpPr/>
            <p:nvPr/>
          </p:nvGrpSpPr>
          <p:grpSpPr>
            <a:xfrm>
              <a:off x="762001" y="2216260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A4B33EE4-37DC-7BD7-F2C5-8C4D4368E6E4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D4C18E63-71AC-CF4E-AD79-3BA954FF2F47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Parameter Research Datacenter &amp; GPU</a:t>
                </a:r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D36CFCCA-3AF3-BAE7-2772-D8D4EC33236E}"/>
                </a:ext>
              </a:extLst>
            </p:cNvPr>
            <p:cNvSpPr txBox="1"/>
            <p:nvPr/>
          </p:nvSpPr>
          <p:spPr>
            <a:xfrm>
              <a:off x="1088136" y="2690336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7828A213-BE73-0866-3125-D60A1B7FB8F1}"/>
              </a:ext>
            </a:extLst>
          </p:cNvPr>
          <p:cNvGrpSpPr/>
          <p:nvPr/>
        </p:nvGrpSpPr>
        <p:grpSpPr>
          <a:xfrm>
            <a:off x="2978743" y="3289287"/>
            <a:ext cx="1634066" cy="781853"/>
            <a:chOff x="762001" y="2216260"/>
            <a:chExt cx="1634066" cy="781853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1B9A9CE0-39FD-8721-CCB6-FC6D0F37B7B4}"/>
                </a:ext>
              </a:extLst>
            </p:cNvPr>
            <p:cNvGrpSpPr/>
            <p:nvPr/>
          </p:nvGrpSpPr>
          <p:grpSpPr>
            <a:xfrm>
              <a:off x="762001" y="2216260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46BC5977-2CF2-47CD-CCD2-67C0B9A253C9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1524F61F-61F8-87DD-A348-AC57FAD7727E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Parameter Research DeepSeek V3</a:t>
                </a:r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7B668791-D9BE-CD26-4CD8-FD81DB5C7E34}"/>
                </a:ext>
              </a:extLst>
            </p:cNvPr>
            <p:cNvSpPr txBox="1"/>
            <p:nvPr/>
          </p:nvSpPr>
          <p:spPr>
            <a:xfrm>
              <a:off x="1088136" y="2690336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235B82E4-ADC2-913F-E48A-9412D164C43E}"/>
              </a:ext>
            </a:extLst>
          </p:cNvPr>
          <p:cNvGrpSpPr/>
          <p:nvPr/>
        </p:nvGrpSpPr>
        <p:grpSpPr>
          <a:xfrm>
            <a:off x="5264658" y="1335171"/>
            <a:ext cx="1634066" cy="1212740"/>
            <a:chOff x="762001" y="676655"/>
            <a:chExt cx="1634066" cy="1212740"/>
          </a:xfrm>
        </p:grpSpPr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F9D2697F-B25B-2579-CD43-0A6B78201582}"/>
                </a:ext>
              </a:extLst>
            </p:cNvPr>
            <p:cNvGrpSpPr/>
            <p:nvPr/>
          </p:nvGrpSpPr>
          <p:grpSpPr>
            <a:xfrm>
              <a:off x="762001" y="676655"/>
              <a:ext cx="1634066" cy="1207008"/>
              <a:chOff x="677333" y="569114"/>
              <a:chExt cx="1634067" cy="10515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2A11A869-FE28-5045-C89F-AA3906B99E44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9772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F881CDDD-5ABC-0E52-96C1-45687C6035D0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Create </a:t>
                </a:r>
                <a:r>
                  <a:rPr lang="de-DE" sz="1200" b="1" dirty="0" err="1"/>
                  <a:t>Activity</a:t>
                </a:r>
                <a:r>
                  <a:rPr lang="de-DE" sz="1200" b="1" dirty="0"/>
                  <a:t> </a:t>
                </a:r>
                <a:r>
                  <a:rPr lang="de-DE" sz="1200" b="1" dirty="0" err="1"/>
                  <a:t>Diagram</a:t>
                </a:r>
                <a:endParaRPr lang="de-DE" sz="1200" b="1" dirty="0"/>
              </a:p>
            </p:txBody>
          </p:sp>
        </p:grp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DCBC34BD-D983-BFE0-8E51-C9C352ADC530}"/>
                </a:ext>
              </a:extLst>
            </p:cNvPr>
            <p:cNvSpPr txBox="1"/>
            <p:nvPr/>
          </p:nvSpPr>
          <p:spPr>
            <a:xfrm>
              <a:off x="1088136" y="1150731"/>
              <a:ext cx="987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9017BF5A-5F64-EEFE-1528-9A214B016304}"/>
              </a:ext>
            </a:extLst>
          </p:cNvPr>
          <p:cNvGrpSpPr/>
          <p:nvPr/>
        </p:nvGrpSpPr>
        <p:grpSpPr>
          <a:xfrm>
            <a:off x="5262542" y="2705536"/>
            <a:ext cx="1634066" cy="781853"/>
            <a:chOff x="762001" y="676655"/>
            <a:chExt cx="1634066" cy="781853"/>
          </a:xfrm>
        </p:grpSpPr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E5DD9D58-30D5-570B-4CAC-BAA09AB2E355}"/>
                </a:ext>
              </a:extLst>
            </p:cNvPr>
            <p:cNvGrpSpPr/>
            <p:nvPr/>
          </p:nvGrpSpPr>
          <p:grpSpPr>
            <a:xfrm>
              <a:off x="762001" y="676655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A12DF622-4009-083E-D805-EEC9DD9A51CE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752169E7-C3CB-6BCB-B9B7-274EAA2D08CD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Create Class </a:t>
                </a:r>
                <a:r>
                  <a:rPr lang="de-DE" sz="1200" b="1" dirty="0" err="1"/>
                  <a:t>Diagram</a:t>
                </a:r>
                <a:endParaRPr lang="de-DE" sz="1200" b="1" dirty="0"/>
              </a:p>
            </p:txBody>
          </p:sp>
        </p:grp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C2827EF7-8C60-5B03-9B5C-6D002D3DF3BA}"/>
                </a:ext>
              </a:extLst>
            </p:cNvPr>
            <p:cNvSpPr txBox="1"/>
            <p:nvPr/>
          </p:nvSpPr>
          <p:spPr>
            <a:xfrm>
              <a:off x="1088136" y="1150731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C215091D-1DDE-189F-7202-87DB5C185A57}"/>
              </a:ext>
            </a:extLst>
          </p:cNvPr>
          <p:cNvGrpSpPr/>
          <p:nvPr/>
        </p:nvGrpSpPr>
        <p:grpSpPr>
          <a:xfrm>
            <a:off x="7546341" y="1327156"/>
            <a:ext cx="1634066" cy="781853"/>
            <a:chOff x="3031067" y="547226"/>
            <a:chExt cx="1634066" cy="781853"/>
          </a:xfrm>
        </p:grpSpPr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C4EA9335-AAFC-43C5-FD01-226CE64D4641}"/>
                </a:ext>
              </a:extLst>
            </p:cNvPr>
            <p:cNvGrpSpPr/>
            <p:nvPr/>
          </p:nvGrpSpPr>
          <p:grpSpPr>
            <a:xfrm>
              <a:off x="3031067" y="547226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9BE91671-9712-85FB-2033-2118B8B56713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1" name="Rechteck 50">
                <a:extLst>
                  <a:ext uri="{FF2B5EF4-FFF2-40B4-BE49-F238E27FC236}">
                    <a16:creationId xmlns:a16="http://schemas.microsoft.com/office/drawing/2014/main" id="{8555845C-69E0-26C1-EAD4-51A232F9B932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Data </a:t>
                </a:r>
                <a:r>
                  <a:rPr lang="de-DE" sz="1200" b="1" dirty="0" err="1"/>
                  <a:t>Loading</a:t>
                </a:r>
                <a:r>
                  <a:rPr lang="de-DE" sz="1200" b="1" dirty="0"/>
                  <a:t> and Python Data Classes</a:t>
                </a:r>
              </a:p>
            </p:txBody>
          </p:sp>
        </p:grp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615A5E0A-76C4-161B-5C0F-EDB6E09731C1}"/>
                </a:ext>
              </a:extLst>
            </p:cNvPr>
            <p:cNvSpPr txBox="1"/>
            <p:nvPr/>
          </p:nvSpPr>
          <p:spPr>
            <a:xfrm>
              <a:off x="3357202" y="1021302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</p:txBody>
        </p:sp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26B53C3C-AA1A-6C0A-8432-517FCF2DE7D6}"/>
              </a:ext>
            </a:extLst>
          </p:cNvPr>
          <p:cNvGrpSpPr/>
          <p:nvPr/>
        </p:nvGrpSpPr>
        <p:grpSpPr>
          <a:xfrm>
            <a:off x="7546340" y="2214000"/>
            <a:ext cx="1634066" cy="781853"/>
            <a:chOff x="3031067" y="547226"/>
            <a:chExt cx="1634066" cy="781853"/>
          </a:xfrm>
        </p:grpSpPr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EC7187E0-D0D0-C365-870B-B0C2F023A736}"/>
                </a:ext>
              </a:extLst>
            </p:cNvPr>
            <p:cNvGrpSpPr/>
            <p:nvPr/>
          </p:nvGrpSpPr>
          <p:grpSpPr>
            <a:xfrm>
              <a:off x="3031067" y="547226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FBEB045B-EE96-5200-3DB0-6707E55FAC21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5A35FD10-E9AB-D991-4A9A-C9346E86CE7D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Load and </a:t>
                </a:r>
                <a:r>
                  <a:rPr lang="de-DE" sz="1200" b="1" dirty="0" err="1"/>
                  <a:t>Verify</a:t>
                </a:r>
                <a:r>
                  <a:rPr lang="de-DE" sz="1200" b="1" dirty="0"/>
                  <a:t> </a:t>
                </a:r>
                <a:r>
                  <a:rPr lang="de-DE" sz="1200" b="1" dirty="0" err="1"/>
                  <a:t>Grid</a:t>
                </a:r>
                <a:r>
                  <a:rPr lang="de-DE" sz="1200" b="1" dirty="0"/>
                  <a:t> Data</a:t>
                </a:r>
              </a:p>
            </p:txBody>
          </p:sp>
        </p:grp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7EB83667-1E94-7F5D-4887-0DEB4C590377}"/>
                </a:ext>
              </a:extLst>
            </p:cNvPr>
            <p:cNvSpPr txBox="1"/>
            <p:nvPr/>
          </p:nvSpPr>
          <p:spPr>
            <a:xfrm>
              <a:off x="3357202" y="1021302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17AD1900-282F-1ED2-6DBC-094262A37603}"/>
              </a:ext>
            </a:extLst>
          </p:cNvPr>
          <p:cNvGrpSpPr/>
          <p:nvPr/>
        </p:nvGrpSpPr>
        <p:grpSpPr>
          <a:xfrm>
            <a:off x="7546340" y="3085060"/>
            <a:ext cx="1634066" cy="997296"/>
            <a:chOff x="3031067" y="547226"/>
            <a:chExt cx="1634066" cy="997296"/>
          </a:xfrm>
        </p:grpSpPr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005649F7-05EB-60A5-47EE-B2FE29AD993C}"/>
                </a:ext>
              </a:extLst>
            </p:cNvPr>
            <p:cNvGrpSpPr/>
            <p:nvPr/>
          </p:nvGrpSpPr>
          <p:grpSpPr>
            <a:xfrm>
              <a:off x="3031067" y="547226"/>
              <a:ext cx="1634066" cy="997296"/>
              <a:chOff x="677333" y="569114"/>
              <a:chExt cx="1634067" cy="868857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D4F0BC3A-7341-9288-F9DD-D59DAD182349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79450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B82ECFD5-C530-D6C3-B0B4-F591B78CB018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Main Simulation Engine </a:t>
                </a: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AC21D925-55D7-8945-D6A8-F4470782E9BD}"/>
                </a:ext>
              </a:extLst>
            </p:cNvPr>
            <p:cNvSpPr txBox="1"/>
            <p:nvPr/>
          </p:nvSpPr>
          <p:spPr>
            <a:xfrm>
              <a:off x="3357202" y="1021302"/>
              <a:ext cx="987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</p:txBody>
        </p:sp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096675CF-727A-769B-88B1-E028FEE3CF61}"/>
              </a:ext>
            </a:extLst>
          </p:cNvPr>
          <p:cNvGrpSpPr/>
          <p:nvPr/>
        </p:nvGrpSpPr>
        <p:grpSpPr>
          <a:xfrm>
            <a:off x="7553072" y="4162281"/>
            <a:ext cx="1634066" cy="997296"/>
            <a:chOff x="3031067" y="547226"/>
            <a:chExt cx="1634066" cy="997296"/>
          </a:xfrm>
        </p:grpSpPr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A13580AB-4FED-9202-5DAA-4D54B053C9C8}"/>
                </a:ext>
              </a:extLst>
            </p:cNvPr>
            <p:cNvGrpSpPr/>
            <p:nvPr/>
          </p:nvGrpSpPr>
          <p:grpSpPr>
            <a:xfrm>
              <a:off x="3031067" y="547226"/>
              <a:ext cx="1634066" cy="997296"/>
              <a:chOff x="677333" y="569114"/>
              <a:chExt cx="1634067" cy="868857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29331EC2-5A45-A453-E469-5C4CD507D2B4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79450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472D48EE-0EC1-7134-3125-CB56416BDB22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Policy Interface and </a:t>
                </a:r>
                <a:r>
                  <a:rPr lang="de-DE" sz="1200" b="1" dirty="0" err="1"/>
                  <a:t>Logic</a:t>
                </a:r>
                <a:endParaRPr lang="de-DE" sz="1200" b="1" dirty="0"/>
              </a:p>
            </p:txBody>
          </p:sp>
        </p:grp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86DBAB4C-FB63-7454-DB49-E98B3EA9AB82}"/>
                </a:ext>
              </a:extLst>
            </p:cNvPr>
            <p:cNvSpPr txBox="1"/>
            <p:nvPr/>
          </p:nvSpPr>
          <p:spPr>
            <a:xfrm>
              <a:off x="3357202" y="1021302"/>
              <a:ext cx="987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4F2BA2B5-DE7C-47A5-B754-A6429BF35A96}"/>
              </a:ext>
            </a:extLst>
          </p:cNvPr>
          <p:cNvGrpSpPr/>
          <p:nvPr/>
        </p:nvGrpSpPr>
        <p:grpSpPr>
          <a:xfrm>
            <a:off x="7546340" y="5248783"/>
            <a:ext cx="1634066" cy="781853"/>
            <a:chOff x="762001" y="676655"/>
            <a:chExt cx="1634066" cy="781853"/>
          </a:xfrm>
        </p:grpSpPr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249AB000-78E2-8DDC-D054-8FA953017FF8}"/>
                </a:ext>
              </a:extLst>
            </p:cNvPr>
            <p:cNvGrpSpPr/>
            <p:nvPr/>
          </p:nvGrpSpPr>
          <p:grpSpPr>
            <a:xfrm>
              <a:off x="762001" y="676655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75" name="Rechteck 74">
                <a:extLst>
                  <a:ext uri="{FF2B5EF4-FFF2-40B4-BE49-F238E27FC236}">
                    <a16:creationId xmlns:a16="http://schemas.microsoft.com/office/drawing/2014/main" id="{2A9D7C70-538C-69C0-27B5-466855203026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76" name="Rechteck 75">
                <a:extLst>
                  <a:ext uri="{FF2B5EF4-FFF2-40B4-BE49-F238E27FC236}">
                    <a16:creationId xmlns:a16="http://schemas.microsoft.com/office/drawing/2014/main" id="{AB6C455E-17C7-76E7-7EFE-2BEA8FC84AFA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Implement Output </a:t>
                </a:r>
                <a:r>
                  <a:rPr lang="de-DE" sz="1200" b="1" dirty="0" err="1"/>
                  <a:t>Statistics</a:t>
                </a:r>
                <a:endParaRPr lang="de-DE" sz="1200" b="1" dirty="0"/>
              </a:p>
            </p:txBody>
          </p:sp>
        </p:grp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04E146D-EFFC-765A-259F-91CC994F7C56}"/>
                </a:ext>
              </a:extLst>
            </p:cNvPr>
            <p:cNvSpPr txBox="1"/>
            <p:nvPr/>
          </p:nvSpPr>
          <p:spPr>
            <a:xfrm>
              <a:off x="1088136" y="1150731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sp>
        <p:nvSpPr>
          <p:cNvPr id="81" name="Rechteck 80">
            <a:extLst>
              <a:ext uri="{FF2B5EF4-FFF2-40B4-BE49-F238E27FC236}">
                <a16:creationId xmlns:a16="http://schemas.microsoft.com/office/drawing/2014/main" id="{180877CE-2C86-C1CA-E44E-9DA69B7F9B13}"/>
              </a:ext>
            </a:extLst>
          </p:cNvPr>
          <p:cNvSpPr/>
          <p:nvPr/>
        </p:nvSpPr>
        <p:spPr>
          <a:xfrm>
            <a:off x="9836488" y="1335171"/>
            <a:ext cx="1634066" cy="4740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Model Validation</a:t>
            </a:r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4916DDFC-5616-9C66-D8C5-6103C2AD1C72}"/>
              </a:ext>
            </a:extLst>
          </p:cNvPr>
          <p:cNvSpPr/>
          <p:nvPr/>
        </p:nvSpPr>
        <p:spPr>
          <a:xfrm>
            <a:off x="9832169" y="1916158"/>
            <a:ext cx="1634066" cy="4740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Pilot Runs</a:t>
            </a:r>
          </a:p>
        </p:txBody>
      </p:sp>
      <p:sp>
        <p:nvSpPr>
          <p:cNvPr id="91" name="Rechteck 90">
            <a:extLst>
              <a:ext uri="{FF2B5EF4-FFF2-40B4-BE49-F238E27FC236}">
                <a16:creationId xmlns:a16="http://schemas.microsoft.com/office/drawing/2014/main" id="{22D51E3D-2886-5470-48BB-E4C9FF991B26}"/>
              </a:ext>
            </a:extLst>
          </p:cNvPr>
          <p:cNvSpPr/>
          <p:nvPr/>
        </p:nvSpPr>
        <p:spPr>
          <a:xfrm>
            <a:off x="9832169" y="2498467"/>
            <a:ext cx="1634066" cy="4740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Experiment Design</a:t>
            </a: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A4ADEA26-EF55-4072-7D9F-C7BBAA2DC2BC}"/>
              </a:ext>
            </a:extLst>
          </p:cNvPr>
          <p:cNvSpPr/>
          <p:nvPr/>
        </p:nvSpPr>
        <p:spPr>
          <a:xfrm>
            <a:off x="9832168" y="3080608"/>
            <a:ext cx="1634066" cy="4740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 err="1"/>
              <a:t>Production</a:t>
            </a:r>
            <a:r>
              <a:rPr lang="de-DE" sz="1200" b="1" dirty="0"/>
              <a:t> Runs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689388BC-1408-BBEB-89F3-0A7FA8EC4E14}"/>
              </a:ext>
            </a:extLst>
          </p:cNvPr>
          <p:cNvCxnSpPr>
            <a:cxnSpLocks/>
          </p:cNvCxnSpPr>
          <p:nvPr/>
        </p:nvCxnSpPr>
        <p:spPr>
          <a:xfrm>
            <a:off x="7223760" y="194733"/>
            <a:ext cx="0" cy="6468534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hteck 66">
            <a:extLst>
              <a:ext uri="{FF2B5EF4-FFF2-40B4-BE49-F238E27FC236}">
                <a16:creationId xmlns:a16="http://schemas.microsoft.com/office/drawing/2014/main" id="{64FC933F-7E64-3D21-BF26-18679387AEA4}"/>
              </a:ext>
            </a:extLst>
          </p:cNvPr>
          <p:cNvSpPr/>
          <p:nvPr/>
        </p:nvSpPr>
        <p:spPr>
          <a:xfrm>
            <a:off x="9832168" y="3660291"/>
            <a:ext cx="1634066" cy="474075"/>
          </a:xfrm>
          <a:prstGeom prst="rect">
            <a:avLst/>
          </a:prstGeom>
          <a:solidFill>
            <a:srgbClr val="C00000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 err="1"/>
              <a:t>Presentation</a:t>
            </a:r>
            <a:r>
              <a:rPr lang="de-DE" sz="1200" b="1" dirty="0"/>
              <a:t> II</a:t>
            </a: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092F636A-460F-613B-E715-8D2A130E8CC6}"/>
              </a:ext>
            </a:extLst>
          </p:cNvPr>
          <p:cNvSpPr/>
          <p:nvPr/>
        </p:nvSpPr>
        <p:spPr>
          <a:xfrm>
            <a:off x="9832168" y="4239974"/>
            <a:ext cx="1634066" cy="4740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Output Analysis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C42361AC-CF15-94DB-95E7-F540C03EB7D7}"/>
              </a:ext>
            </a:extLst>
          </p:cNvPr>
          <p:cNvSpPr/>
          <p:nvPr/>
        </p:nvSpPr>
        <p:spPr>
          <a:xfrm>
            <a:off x="9832168" y="4820327"/>
            <a:ext cx="1634066" cy="474075"/>
          </a:xfrm>
          <a:prstGeom prst="rect">
            <a:avLst/>
          </a:prstGeom>
          <a:solidFill>
            <a:srgbClr val="C00000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Final </a:t>
            </a:r>
            <a:r>
              <a:rPr lang="de-DE" sz="1200" b="1" dirty="0" err="1"/>
              <a:t>Presenation</a:t>
            </a:r>
            <a:endParaRPr lang="de-DE" sz="1200" b="1" dirty="0"/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101835A2-C6F9-A989-9CFC-F3D77D40E0E8}"/>
              </a:ext>
            </a:extLst>
          </p:cNvPr>
          <p:cNvSpPr/>
          <p:nvPr/>
        </p:nvSpPr>
        <p:spPr>
          <a:xfrm>
            <a:off x="9832168" y="5402672"/>
            <a:ext cx="1634066" cy="474075"/>
          </a:xfrm>
          <a:prstGeom prst="rect">
            <a:avLst/>
          </a:prstGeom>
          <a:solidFill>
            <a:srgbClr val="C00000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Report Submission</a:t>
            </a:r>
          </a:p>
        </p:txBody>
      </p:sp>
      <p:sp>
        <p:nvSpPr>
          <p:cNvPr id="113" name="Rechteck 112">
            <a:extLst>
              <a:ext uri="{FF2B5EF4-FFF2-40B4-BE49-F238E27FC236}">
                <a16:creationId xmlns:a16="http://schemas.microsoft.com/office/drawing/2014/main" id="{803159AB-287B-CCC1-7D07-9975CDC7773B}"/>
              </a:ext>
            </a:extLst>
          </p:cNvPr>
          <p:cNvSpPr/>
          <p:nvPr/>
        </p:nvSpPr>
        <p:spPr>
          <a:xfrm rot="5400000">
            <a:off x="6627536" y="3377229"/>
            <a:ext cx="1194225" cy="338027"/>
          </a:xfrm>
          <a:prstGeom prst="rect">
            <a:avLst/>
          </a:prstGeom>
          <a:solidFill>
            <a:srgbClr val="C00000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 err="1"/>
              <a:t>Presentation</a:t>
            </a:r>
            <a:r>
              <a:rPr lang="de-DE" sz="1200" b="1" dirty="0"/>
              <a:t> I</a:t>
            </a:r>
          </a:p>
        </p:txBody>
      </p:sp>
      <p:sp>
        <p:nvSpPr>
          <p:cNvPr id="114" name="Rechteck 113">
            <a:extLst>
              <a:ext uri="{FF2B5EF4-FFF2-40B4-BE49-F238E27FC236}">
                <a16:creationId xmlns:a16="http://schemas.microsoft.com/office/drawing/2014/main" id="{4899623E-01AA-62B8-AAE3-4F67D797E2E1}"/>
              </a:ext>
            </a:extLst>
          </p:cNvPr>
          <p:cNvSpPr/>
          <p:nvPr/>
        </p:nvSpPr>
        <p:spPr>
          <a:xfrm>
            <a:off x="690710" y="686090"/>
            <a:ext cx="1634067" cy="474075"/>
          </a:xfrm>
          <a:prstGeom prst="rect">
            <a:avLst/>
          </a:prstGeom>
          <a:solidFill>
            <a:schemeClr val="accent5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April 26th</a:t>
            </a: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63F428EF-AEA1-E826-CAF4-C2302DCA8B42}"/>
              </a:ext>
            </a:extLst>
          </p:cNvPr>
          <p:cNvSpPr/>
          <p:nvPr/>
        </p:nvSpPr>
        <p:spPr>
          <a:xfrm>
            <a:off x="690711" y="6109286"/>
            <a:ext cx="10775524" cy="47407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 err="1"/>
              <a:t>Documentation</a:t>
            </a:r>
            <a:r>
              <a:rPr lang="de-DE" sz="1200" b="1" dirty="0"/>
              <a:t>, </a:t>
            </a:r>
            <a:r>
              <a:rPr lang="de-DE" sz="1200" b="1" dirty="0" err="1"/>
              <a:t>Presentation</a:t>
            </a:r>
            <a:r>
              <a:rPr lang="de-DE" sz="1200" b="1" dirty="0"/>
              <a:t>, and Report</a:t>
            </a:r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71EF9841-30BB-D689-D9EF-38167E8F8093}"/>
              </a:ext>
            </a:extLst>
          </p:cNvPr>
          <p:cNvSpPr/>
          <p:nvPr/>
        </p:nvSpPr>
        <p:spPr>
          <a:xfrm>
            <a:off x="2972221" y="690015"/>
            <a:ext cx="1634067" cy="474075"/>
          </a:xfrm>
          <a:prstGeom prst="rect">
            <a:avLst/>
          </a:prstGeom>
          <a:solidFill>
            <a:schemeClr val="accent5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May 6th</a:t>
            </a:r>
          </a:p>
        </p:txBody>
      </p:sp>
      <p:sp>
        <p:nvSpPr>
          <p:cNvPr id="117" name="Rechteck 116">
            <a:extLst>
              <a:ext uri="{FF2B5EF4-FFF2-40B4-BE49-F238E27FC236}">
                <a16:creationId xmlns:a16="http://schemas.microsoft.com/office/drawing/2014/main" id="{7EE48276-3B06-1401-91AF-D5EB09D750F3}"/>
              </a:ext>
            </a:extLst>
          </p:cNvPr>
          <p:cNvSpPr/>
          <p:nvPr/>
        </p:nvSpPr>
        <p:spPr>
          <a:xfrm>
            <a:off x="5261440" y="686089"/>
            <a:ext cx="1634067" cy="474075"/>
          </a:xfrm>
          <a:prstGeom prst="rect">
            <a:avLst/>
          </a:prstGeom>
          <a:solidFill>
            <a:schemeClr val="accent5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May 7th</a:t>
            </a:r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9D1F1070-96A3-7DD1-B652-61B48922EC0D}"/>
              </a:ext>
            </a:extLst>
          </p:cNvPr>
          <p:cNvSpPr/>
          <p:nvPr/>
        </p:nvSpPr>
        <p:spPr>
          <a:xfrm>
            <a:off x="7546340" y="681289"/>
            <a:ext cx="1634067" cy="474075"/>
          </a:xfrm>
          <a:prstGeom prst="rect">
            <a:avLst/>
          </a:prstGeom>
          <a:solidFill>
            <a:schemeClr val="accent5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/>
              <a:t>June 4th</a:t>
            </a:r>
          </a:p>
        </p:txBody>
      </p:sp>
      <p:sp>
        <p:nvSpPr>
          <p:cNvPr id="119" name="Rechteck 118">
            <a:extLst>
              <a:ext uri="{FF2B5EF4-FFF2-40B4-BE49-F238E27FC236}">
                <a16:creationId xmlns:a16="http://schemas.microsoft.com/office/drawing/2014/main" id="{63853D43-6378-13FA-4080-C07A05CB590A}"/>
              </a:ext>
            </a:extLst>
          </p:cNvPr>
          <p:cNvSpPr/>
          <p:nvPr/>
        </p:nvSpPr>
        <p:spPr>
          <a:xfrm>
            <a:off x="9832168" y="681289"/>
            <a:ext cx="1634067" cy="474075"/>
          </a:xfrm>
          <a:prstGeom prst="rect">
            <a:avLst/>
          </a:prstGeom>
          <a:solidFill>
            <a:schemeClr val="accent5"/>
          </a:solidFill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 err="1"/>
              <a:t>July</a:t>
            </a:r>
            <a:r>
              <a:rPr lang="de-DE" sz="1200" b="1" dirty="0"/>
              <a:t> 16th</a:t>
            </a:r>
          </a:p>
        </p:txBody>
      </p:sp>
    </p:spTree>
    <p:extLst>
      <p:ext uri="{BB962C8B-B14F-4D97-AF65-F5344CB8AC3E}">
        <p14:creationId xmlns:p14="http://schemas.microsoft.com/office/powerpoint/2010/main" val="662476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760C639B-3B11-2EAB-E80D-7FA06B3F3420}"/>
              </a:ext>
            </a:extLst>
          </p:cNvPr>
          <p:cNvGrpSpPr/>
          <p:nvPr/>
        </p:nvGrpSpPr>
        <p:grpSpPr>
          <a:xfrm>
            <a:off x="9624736" y="194733"/>
            <a:ext cx="2048933" cy="6468534"/>
            <a:chOff x="254000" y="248789"/>
            <a:chExt cx="2201757" cy="6307043"/>
          </a:xfrm>
          <a:solidFill>
            <a:schemeClr val="accent2">
              <a:lumMod val="50000"/>
            </a:schemeClr>
          </a:solidFill>
        </p:grpSpPr>
        <p:sp>
          <p:nvSpPr>
            <p:cNvPr id="111" name="Rechteck 110">
              <a:extLst>
                <a:ext uri="{FF2B5EF4-FFF2-40B4-BE49-F238E27FC236}">
                  <a16:creationId xmlns:a16="http://schemas.microsoft.com/office/drawing/2014/main" id="{72E0F5FF-AD09-BE08-E549-FDBBFF417A1B}"/>
                </a:ext>
              </a:extLst>
            </p:cNvPr>
            <p:cNvSpPr/>
            <p:nvPr/>
          </p:nvSpPr>
          <p:spPr>
            <a:xfrm>
              <a:off x="254000" y="248789"/>
              <a:ext cx="2201757" cy="63070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2" name="Rechteck 111">
              <a:extLst>
                <a:ext uri="{FF2B5EF4-FFF2-40B4-BE49-F238E27FC236}">
                  <a16:creationId xmlns:a16="http://schemas.microsoft.com/office/drawing/2014/main" id="{FB7116A6-1167-FA0F-D0D0-12CC0726A3F6}"/>
                </a:ext>
              </a:extLst>
            </p:cNvPr>
            <p:cNvSpPr/>
            <p:nvPr/>
          </p:nvSpPr>
          <p:spPr>
            <a:xfrm>
              <a:off x="262465" y="248789"/>
              <a:ext cx="2193292" cy="37798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dirty="0"/>
                <a:t>Open Tasks (Future)</a:t>
              </a:r>
            </a:p>
          </p:txBody>
        </p:sp>
      </p:grpSp>
      <p:grpSp>
        <p:nvGrpSpPr>
          <p:cNvPr id="101" name="Gruppieren 100">
            <a:extLst>
              <a:ext uri="{FF2B5EF4-FFF2-40B4-BE49-F238E27FC236}">
                <a16:creationId xmlns:a16="http://schemas.microsoft.com/office/drawing/2014/main" id="{93086B0C-4B4B-E875-1D9D-4C920C2A7FD7}"/>
              </a:ext>
            </a:extLst>
          </p:cNvPr>
          <p:cNvGrpSpPr/>
          <p:nvPr/>
        </p:nvGrpSpPr>
        <p:grpSpPr>
          <a:xfrm>
            <a:off x="2771309" y="204376"/>
            <a:ext cx="2048933" cy="6468534"/>
            <a:chOff x="254000" y="248789"/>
            <a:chExt cx="2201757" cy="6307043"/>
          </a:xfrm>
          <a:solidFill>
            <a:schemeClr val="accent6">
              <a:lumMod val="75000"/>
            </a:schemeClr>
          </a:solidFill>
        </p:grpSpPr>
        <p:sp>
          <p:nvSpPr>
            <p:cNvPr id="102" name="Rechteck 101">
              <a:extLst>
                <a:ext uri="{FF2B5EF4-FFF2-40B4-BE49-F238E27FC236}">
                  <a16:creationId xmlns:a16="http://schemas.microsoft.com/office/drawing/2014/main" id="{FE462B91-D9B1-ADD2-6F68-20CD66252DE9}"/>
                </a:ext>
              </a:extLst>
            </p:cNvPr>
            <p:cNvSpPr/>
            <p:nvPr/>
          </p:nvSpPr>
          <p:spPr>
            <a:xfrm>
              <a:off x="254000" y="248789"/>
              <a:ext cx="2201757" cy="63070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3" name="Rechteck 102">
              <a:extLst>
                <a:ext uri="{FF2B5EF4-FFF2-40B4-BE49-F238E27FC236}">
                  <a16:creationId xmlns:a16="http://schemas.microsoft.com/office/drawing/2014/main" id="{B2CF91A9-9CDE-8C73-001D-122D33D0F19E}"/>
                </a:ext>
              </a:extLst>
            </p:cNvPr>
            <p:cNvSpPr/>
            <p:nvPr/>
          </p:nvSpPr>
          <p:spPr>
            <a:xfrm>
              <a:off x="262465" y="248789"/>
              <a:ext cx="2193292" cy="37592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dirty="0"/>
                <a:t>Data Collection</a:t>
              </a:r>
            </a:p>
          </p:txBody>
        </p:sp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C81E81A9-0286-CAEF-668B-FB2F0F96A00E}"/>
              </a:ext>
            </a:extLst>
          </p:cNvPr>
          <p:cNvGrpSpPr/>
          <p:nvPr/>
        </p:nvGrpSpPr>
        <p:grpSpPr>
          <a:xfrm>
            <a:off x="5058664" y="204376"/>
            <a:ext cx="2048933" cy="6468534"/>
            <a:chOff x="254000" y="248789"/>
            <a:chExt cx="2201757" cy="6307043"/>
          </a:xfrm>
          <a:solidFill>
            <a:schemeClr val="accent6">
              <a:lumMod val="50000"/>
            </a:schemeClr>
          </a:solidFill>
        </p:grpSpPr>
        <p:sp>
          <p:nvSpPr>
            <p:cNvPr id="105" name="Rechteck 104">
              <a:extLst>
                <a:ext uri="{FF2B5EF4-FFF2-40B4-BE49-F238E27FC236}">
                  <a16:creationId xmlns:a16="http://schemas.microsoft.com/office/drawing/2014/main" id="{33606BFA-B7DA-30B3-AA52-BF7760993076}"/>
                </a:ext>
              </a:extLst>
            </p:cNvPr>
            <p:cNvSpPr/>
            <p:nvPr/>
          </p:nvSpPr>
          <p:spPr>
            <a:xfrm>
              <a:off x="254000" y="248789"/>
              <a:ext cx="2201757" cy="63070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6" name="Rechteck 105">
              <a:extLst>
                <a:ext uri="{FF2B5EF4-FFF2-40B4-BE49-F238E27FC236}">
                  <a16:creationId xmlns:a16="http://schemas.microsoft.com/office/drawing/2014/main" id="{CFE97719-8BCB-66C0-EE73-6468DC181DCD}"/>
                </a:ext>
              </a:extLst>
            </p:cNvPr>
            <p:cNvSpPr/>
            <p:nvPr/>
          </p:nvSpPr>
          <p:spPr>
            <a:xfrm>
              <a:off x="262465" y="248789"/>
              <a:ext cx="2193292" cy="37592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dirty="0" err="1"/>
                <a:t>Conceptual</a:t>
              </a:r>
              <a:r>
                <a:rPr lang="de-DE" sz="1600" dirty="0"/>
                <a:t> Model</a:t>
              </a:r>
            </a:p>
          </p:txBody>
        </p:sp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A96DE899-3023-BAD5-3DDA-5106B7384149}"/>
              </a:ext>
            </a:extLst>
          </p:cNvPr>
          <p:cNvGrpSpPr/>
          <p:nvPr/>
        </p:nvGrpSpPr>
        <p:grpSpPr>
          <a:xfrm>
            <a:off x="7341700" y="196851"/>
            <a:ext cx="2048933" cy="6468534"/>
            <a:chOff x="254000" y="248789"/>
            <a:chExt cx="2201757" cy="6307043"/>
          </a:xfrm>
          <a:solidFill>
            <a:schemeClr val="accent1">
              <a:lumMod val="75000"/>
            </a:schemeClr>
          </a:solidFill>
        </p:grpSpPr>
        <p:sp>
          <p:nvSpPr>
            <p:cNvPr id="108" name="Rechteck 107">
              <a:extLst>
                <a:ext uri="{FF2B5EF4-FFF2-40B4-BE49-F238E27FC236}">
                  <a16:creationId xmlns:a16="http://schemas.microsoft.com/office/drawing/2014/main" id="{18AA1FA2-2739-AA1D-59F9-23A2000C3554}"/>
                </a:ext>
              </a:extLst>
            </p:cNvPr>
            <p:cNvSpPr/>
            <p:nvPr/>
          </p:nvSpPr>
          <p:spPr>
            <a:xfrm>
              <a:off x="254000" y="248789"/>
              <a:ext cx="2201757" cy="630704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9" name="Rechteck 108">
              <a:extLst>
                <a:ext uri="{FF2B5EF4-FFF2-40B4-BE49-F238E27FC236}">
                  <a16:creationId xmlns:a16="http://schemas.microsoft.com/office/drawing/2014/main" id="{0EB3774A-EAE2-5B1B-0C99-7378F7A594CB}"/>
                </a:ext>
              </a:extLst>
            </p:cNvPr>
            <p:cNvSpPr/>
            <p:nvPr/>
          </p:nvSpPr>
          <p:spPr>
            <a:xfrm>
              <a:off x="262465" y="248789"/>
              <a:ext cx="2193292" cy="383257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dirty="0"/>
                <a:t>Model </a:t>
              </a:r>
              <a:r>
                <a:rPr lang="de-DE" sz="1600" dirty="0" err="1"/>
                <a:t>Impl</a:t>
              </a:r>
              <a:r>
                <a:rPr lang="de-DE" sz="1600" dirty="0"/>
                <a:t>. &amp; </a:t>
              </a:r>
              <a:r>
                <a:rPr lang="de-DE" sz="1600" dirty="0" err="1"/>
                <a:t>Verif</a:t>
              </a:r>
              <a:r>
                <a:rPr lang="de-DE" sz="1600" dirty="0"/>
                <a:t>.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3EDC618D-0598-B01F-1737-2B3D3FFB6902}"/>
              </a:ext>
            </a:extLst>
          </p:cNvPr>
          <p:cNvGrpSpPr/>
          <p:nvPr/>
        </p:nvGrpSpPr>
        <p:grpSpPr>
          <a:xfrm>
            <a:off x="483954" y="196851"/>
            <a:ext cx="2048933" cy="6468534"/>
            <a:chOff x="254000" y="248789"/>
            <a:chExt cx="2201757" cy="6307043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98" name="Rechteck 97">
              <a:extLst>
                <a:ext uri="{FF2B5EF4-FFF2-40B4-BE49-F238E27FC236}">
                  <a16:creationId xmlns:a16="http://schemas.microsoft.com/office/drawing/2014/main" id="{8A218701-CA17-26C3-9D8A-CA4594D4F12A}"/>
                </a:ext>
              </a:extLst>
            </p:cNvPr>
            <p:cNvSpPr/>
            <p:nvPr/>
          </p:nvSpPr>
          <p:spPr>
            <a:xfrm>
              <a:off x="254000" y="248789"/>
              <a:ext cx="2201757" cy="630704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9" name="Rechteck 98">
              <a:extLst>
                <a:ext uri="{FF2B5EF4-FFF2-40B4-BE49-F238E27FC236}">
                  <a16:creationId xmlns:a16="http://schemas.microsoft.com/office/drawing/2014/main" id="{ACC0FB5C-F2A8-614E-1BD0-2892D89B21A3}"/>
                </a:ext>
              </a:extLst>
            </p:cNvPr>
            <p:cNvSpPr/>
            <p:nvPr/>
          </p:nvSpPr>
          <p:spPr>
            <a:xfrm>
              <a:off x="262465" y="248789"/>
              <a:ext cx="2193292" cy="37592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dirty="0">
                  <a:solidFill>
                    <a:schemeClr val="tx1"/>
                  </a:solidFill>
                </a:rPr>
                <a:t>Model Definition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CE8228C7-B26A-1ECF-D5E1-F5A516C572FD}"/>
              </a:ext>
            </a:extLst>
          </p:cNvPr>
          <p:cNvGrpSpPr/>
          <p:nvPr/>
        </p:nvGrpSpPr>
        <p:grpSpPr>
          <a:xfrm>
            <a:off x="690712" y="1261703"/>
            <a:ext cx="1634066" cy="1212740"/>
            <a:chOff x="762001" y="676655"/>
            <a:chExt cx="1634066" cy="1212740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8FAC5150-78D3-0D57-86B5-556D02F17A7B}"/>
                </a:ext>
              </a:extLst>
            </p:cNvPr>
            <p:cNvGrpSpPr/>
            <p:nvPr/>
          </p:nvGrpSpPr>
          <p:grpSpPr>
            <a:xfrm>
              <a:off x="762001" y="676655"/>
              <a:ext cx="1634066" cy="1207008"/>
              <a:chOff x="677333" y="569114"/>
              <a:chExt cx="1634067" cy="10515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9CA4E491-A3D2-A359-346F-1A0D0F0AAF38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9772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1FB3B420-797C-115C-6437-7EFFBE6913B7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Model </a:t>
                </a:r>
                <a:r>
                  <a:rPr lang="de-DE" sz="1200" b="1" dirty="0" err="1"/>
                  <a:t>Requirements</a:t>
                </a:r>
                <a:r>
                  <a:rPr lang="de-DE" sz="1200" b="1" dirty="0"/>
                  <a:t> Definition</a:t>
                </a:r>
              </a:p>
            </p:txBody>
          </p:sp>
        </p:grp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2204192D-FDBD-9FA4-4057-BBD94AF35C57}"/>
                </a:ext>
              </a:extLst>
            </p:cNvPr>
            <p:cNvSpPr txBox="1"/>
            <p:nvPr/>
          </p:nvSpPr>
          <p:spPr>
            <a:xfrm>
              <a:off x="1088136" y="1150731"/>
              <a:ext cx="987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8F976280-629C-BAC3-7792-F453080570FE}"/>
              </a:ext>
            </a:extLst>
          </p:cNvPr>
          <p:cNvGrpSpPr/>
          <p:nvPr/>
        </p:nvGrpSpPr>
        <p:grpSpPr>
          <a:xfrm>
            <a:off x="690712" y="2637800"/>
            <a:ext cx="1634066" cy="1212740"/>
            <a:chOff x="762001" y="2216260"/>
            <a:chExt cx="1634066" cy="1212740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978B06D8-E6B2-8147-FF05-7C363369F730}"/>
                </a:ext>
              </a:extLst>
            </p:cNvPr>
            <p:cNvGrpSpPr/>
            <p:nvPr/>
          </p:nvGrpSpPr>
          <p:grpSpPr>
            <a:xfrm>
              <a:off x="762001" y="2216260"/>
              <a:ext cx="1634066" cy="1207008"/>
              <a:chOff x="677333" y="569114"/>
              <a:chExt cx="1634067" cy="10515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069B4C24-0EC6-DFE5-A032-5F36D525B763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9772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96ABB273-86FC-5494-D4CA-B7EAED1141FB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Project </a:t>
                </a:r>
                <a:r>
                  <a:rPr lang="de-DE" sz="1200" b="1" dirty="0" err="1"/>
                  <a:t>Organization</a:t>
                </a:r>
                <a:endParaRPr lang="de-DE" sz="1200" b="1" dirty="0"/>
              </a:p>
            </p:txBody>
          </p:sp>
        </p:grp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A4375A30-A685-665F-B81E-8BA44533EC26}"/>
                </a:ext>
              </a:extLst>
            </p:cNvPr>
            <p:cNvSpPr txBox="1"/>
            <p:nvPr/>
          </p:nvSpPr>
          <p:spPr>
            <a:xfrm>
              <a:off x="1088136" y="2690336"/>
              <a:ext cx="987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17677B8D-917B-BD6C-D712-2E6A7E8F322E}"/>
              </a:ext>
            </a:extLst>
          </p:cNvPr>
          <p:cNvGrpSpPr/>
          <p:nvPr/>
        </p:nvGrpSpPr>
        <p:grpSpPr>
          <a:xfrm>
            <a:off x="2978743" y="1268688"/>
            <a:ext cx="1634066" cy="781853"/>
            <a:chOff x="3031067" y="547226"/>
            <a:chExt cx="1634066" cy="781853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5EF2173B-E77A-1344-E90D-AAC7197EC48B}"/>
                </a:ext>
              </a:extLst>
            </p:cNvPr>
            <p:cNvGrpSpPr/>
            <p:nvPr/>
          </p:nvGrpSpPr>
          <p:grpSpPr>
            <a:xfrm>
              <a:off x="3031067" y="547226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28EF4B65-A3D6-0E54-2957-EC6205C5A7C8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A9358A9E-0B10-F091-1912-8C38D6C0570B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 err="1"/>
                  <a:t>Electricity</a:t>
                </a:r>
                <a:r>
                  <a:rPr lang="de-DE" sz="1200" b="1" dirty="0"/>
                  <a:t> Maps Scraper</a:t>
                </a:r>
              </a:p>
            </p:txBody>
          </p:sp>
        </p:grp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88ADEDBA-B833-1B8B-F305-715C7F64EEE1}"/>
                </a:ext>
              </a:extLst>
            </p:cNvPr>
            <p:cNvSpPr txBox="1"/>
            <p:nvPr/>
          </p:nvSpPr>
          <p:spPr>
            <a:xfrm>
              <a:off x="3357202" y="1021302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B126D801-1914-9C8B-2C88-5E252B82CEB5}"/>
              </a:ext>
            </a:extLst>
          </p:cNvPr>
          <p:cNvGrpSpPr/>
          <p:nvPr/>
        </p:nvGrpSpPr>
        <p:grpSpPr>
          <a:xfrm>
            <a:off x="2978743" y="2246874"/>
            <a:ext cx="1634066" cy="781853"/>
            <a:chOff x="762001" y="2216260"/>
            <a:chExt cx="1634066" cy="781853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ED0AAAE8-22D8-92DF-CFDC-E39CE5B86B07}"/>
                </a:ext>
              </a:extLst>
            </p:cNvPr>
            <p:cNvGrpSpPr/>
            <p:nvPr/>
          </p:nvGrpSpPr>
          <p:grpSpPr>
            <a:xfrm>
              <a:off x="762001" y="2216260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9C92776E-2F8F-8F39-EA0C-D2D275E4AAD5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2D1C85FB-097D-BCB1-290E-2A3829376798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Parameter Research Kimi K2.6</a:t>
                </a:r>
              </a:p>
            </p:txBody>
          </p:sp>
        </p:grp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8F3D9C02-829A-0D60-A023-28CBB1E4191A}"/>
                </a:ext>
              </a:extLst>
            </p:cNvPr>
            <p:cNvSpPr txBox="1"/>
            <p:nvPr/>
          </p:nvSpPr>
          <p:spPr>
            <a:xfrm>
              <a:off x="1088136" y="2690336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24703982-CED2-E2B5-C099-2F9B0A7F0691}"/>
              </a:ext>
            </a:extLst>
          </p:cNvPr>
          <p:cNvGrpSpPr/>
          <p:nvPr/>
        </p:nvGrpSpPr>
        <p:grpSpPr>
          <a:xfrm>
            <a:off x="2978743" y="4195064"/>
            <a:ext cx="1634066" cy="781853"/>
            <a:chOff x="762001" y="2216260"/>
            <a:chExt cx="1634066" cy="781853"/>
          </a:xfrm>
        </p:grpSpPr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94A17B29-5CD0-3FC8-FAFF-9AC3C91201C7}"/>
                </a:ext>
              </a:extLst>
            </p:cNvPr>
            <p:cNvGrpSpPr/>
            <p:nvPr/>
          </p:nvGrpSpPr>
          <p:grpSpPr>
            <a:xfrm>
              <a:off x="762001" y="2216260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E9C1BB67-23F0-2E9A-8175-4AE3162BE395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80D64CE7-9ACF-66D0-802F-9495E094C448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Parameter Research Datacenter &amp; GPU</a:t>
                </a:r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DE731D90-FA8C-8D83-C44F-A891CC3F14B5}"/>
                </a:ext>
              </a:extLst>
            </p:cNvPr>
            <p:cNvSpPr txBox="1"/>
            <p:nvPr/>
          </p:nvSpPr>
          <p:spPr>
            <a:xfrm>
              <a:off x="1088136" y="2690336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120680F-55B0-E856-DD4E-B6D186BBDBA6}"/>
              </a:ext>
            </a:extLst>
          </p:cNvPr>
          <p:cNvGrpSpPr/>
          <p:nvPr/>
        </p:nvGrpSpPr>
        <p:grpSpPr>
          <a:xfrm>
            <a:off x="2978743" y="3221551"/>
            <a:ext cx="1634066" cy="781853"/>
            <a:chOff x="762001" y="2216260"/>
            <a:chExt cx="1634066" cy="781853"/>
          </a:xfrm>
        </p:grpSpPr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2DB07035-7121-7BCD-46A6-7B1F1BE2A264}"/>
                </a:ext>
              </a:extLst>
            </p:cNvPr>
            <p:cNvGrpSpPr/>
            <p:nvPr/>
          </p:nvGrpSpPr>
          <p:grpSpPr>
            <a:xfrm>
              <a:off x="762001" y="2216260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03DC321E-44E5-8FB1-884B-F02A5FCC7D28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9535F4F7-8023-347B-6463-CDD3F102A883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Parameter Research DeepSeek V3</a:t>
                </a:r>
              </a:p>
            </p:txBody>
          </p:sp>
        </p:grp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0402F5E5-38D9-C896-E5A7-75E66A3BF59B}"/>
                </a:ext>
              </a:extLst>
            </p:cNvPr>
            <p:cNvSpPr txBox="1"/>
            <p:nvPr/>
          </p:nvSpPr>
          <p:spPr>
            <a:xfrm>
              <a:off x="1088136" y="2690336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</p:txBody>
        </p:sp>
      </p:grp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DC5AD8A5-B53C-BF15-67CB-636870BE0DEF}"/>
              </a:ext>
            </a:extLst>
          </p:cNvPr>
          <p:cNvGrpSpPr/>
          <p:nvPr/>
        </p:nvGrpSpPr>
        <p:grpSpPr>
          <a:xfrm>
            <a:off x="5264658" y="1267435"/>
            <a:ext cx="1634066" cy="1212740"/>
            <a:chOff x="762001" y="676655"/>
            <a:chExt cx="1634066" cy="1212740"/>
          </a:xfrm>
        </p:grpSpPr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7514A8A4-7F9F-F66E-FDB5-6E008D3AD99F}"/>
                </a:ext>
              </a:extLst>
            </p:cNvPr>
            <p:cNvGrpSpPr/>
            <p:nvPr/>
          </p:nvGrpSpPr>
          <p:grpSpPr>
            <a:xfrm>
              <a:off x="762001" y="676655"/>
              <a:ext cx="1634066" cy="1207008"/>
              <a:chOff x="677333" y="569114"/>
              <a:chExt cx="1634067" cy="10515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D3B0A676-367D-9D51-FCFF-6F0D80B62192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9772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0CBE3503-6748-2C98-2594-FC6572C480EE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Create </a:t>
                </a:r>
                <a:r>
                  <a:rPr lang="de-DE" sz="1200" b="1" dirty="0" err="1"/>
                  <a:t>Activity</a:t>
                </a:r>
                <a:r>
                  <a:rPr lang="de-DE" sz="1200" b="1" dirty="0"/>
                  <a:t> </a:t>
                </a:r>
                <a:r>
                  <a:rPr lang="de-DE" sz="1200" b="1" dirty="0" err="1"/>
                  <a:t>Diagram</a:t>
                </a:r>
                <a:endParaRPr lang="de-DE" sz="1200" b="1" dirty="0"/>
              </a:p>
            </p:txBody>
          </p:sp>
        </p:grp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3FA8ACF8-163C-8A62-2B91-8BD9C97DB0F4}"/>
                </a:ext>
              </a:extLst>
            </p:cNvPr>
            <p:cNvSpPr txBox="1"/>
            <p:nvPr/>
          </p:nvSpPr>
          <p:spPr>
            <a:xfrm>
              <a:off x="1088136" y="1150731"/>
              <a:ext cx="987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75D0D13F-4652-382B-D466-D4AD78ADB644}"/>
              </a:ext>
            </a:extLst>
          </p:cNvPr>
          <p:cNvGrpSpPr/>
          <p:nvPr/>
        </p:nvGrpSpPr>
        <p:grpSpPr>
          <a:xfrm>
            <a:off x="5262542" y="2637800"/>
            <a:ext cx="1634066" cy="781853"/>
            <a:chOff x="762001" y="676655"/>
            <a:chExt cx="1634066" cy="781853"/>
          </a:xfrm>
        </p:grpSpPr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1807FF74-5520-8603-BE28-794DA7C78714}"/>
                </a:ext>
              </a:extLst>
            </p:cNvPr>
            <p:cNvGrpSpPr/>
            <p:nvPr/>
          </p:nvGrpSpPr>
          <p:grpSpPr>
            <a:xfrm>
              <a:off x="762001" y="676655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5601A84E-B09D-C9BF-AFB2-6D8C97A879A3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CD1372E1-BD50-69C3-A8FD-5221DA85A768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Create Class </a:t>
                </a:r>
                <a:r>
                  <a:rPr lang="de-DE" sz="1200" b="1" dirty="0" err="1"/>
                  <a:t>Diagram</a:t>
                </a:r>
                <a:endParaRPr lang="de-DE" sz="1200" b="1" dirty="0"/>
              </a:p>
            </p:txBody>
          </p:sp>
        </p:grp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346C0638-9674-918D-96DD-52E3A68810DB}"/>
                </a:ext>
              </a:extLst>
            </p:cNvPr>
            <p:cNvSpPr txBox="1"/>
            <p:nvPr/>
          </p:nvSpPr>
          <p:spPr>
            <a:xfrm>
              <a:off x="1088136" y="1150731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</p:txBody>
        </p: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6156BECD-655A-06EB-1765-F563B3240A6D}"/>
              </a:ext>
            </a:extLst>
          </p:cNvPr>
          <p:cNvGrpSpPr/>
          <p:nvPr/>
        </p:nvGrpSpPr>
        <p:grpSpPr>
          <a:xfrm>
            <a:off x="7546341" y="1259420"/>
            <a:ext cx="1634066" cy="781853"/>
            <a:chOff x="3031067" y="547226"/>
            <a:chExt cx="1634066" cy="781853"/>
          </a:xfrm>
        </p:grpSpPr>
        <p:grpSp>
          <p:nvGrpSpPr>
            <p:cNvPr id="48" name="Gruppieren 47">
              <a:extLst>
                <a:ext uri="{FF2B5EF4-FFF2-40B4-BE49-F238E27FC236}">
                  <a16:creationId xmlns:a16="http://schemas.microsoft.com/office/drawing/2014/main" id="{CA3AA990-233F-BED5-BDEA-9DA123D8A57A}"/>
                </a:ext>
              </a:extLst>
            </p:cNvPr>
            <p:cNvGrpSpPr/>
            <p:nvPr/>
          </p:nvGrpSpPr>
          <p:grpSpPr>
            <a:xfrm>
              <a:off x="3031067" y="547226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331935EB-8F78-CBFB-D601-B8F5525305FD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1" name="Rechteck 50">
                <a:extLst>
                  <a:ext uri="{FF2B5EF4-FFF2-40B4-BE49-F238E27FC236}">
                    <a16:creationId xmlns:a16="http://schemas.microsoft.com/office/drawing/2014/main" id="{41238F22-6647-C72C-E42D-E86C5A9E3108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Data </a:t>
                </a:r>
                <a:r>
                  <a:rPr lang="de-DE" sz="1200" b="1" dirty="0" err="1"/>
                  <a:t>Loading</a:t>
                </a:r>
                <a:r>
                  <a:rPr lang="de-DE" sz="1200" b="1" dirty="0"/>
                  <a:t> and Python Data Classes</a:t>
                </a:r>
              </a:p>
            </p:txBody>
          </p:sp>
        </p:grp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EFDE99C0-7253-E837-BD06-2EFC05CFE095}"/>
                </a:ext>
              </a:extLst>
            </p:cNvPr>
            <p:cNvSpPr txBox="1"/>
            <p:nvPr/>
          </p:nvSpPr>
          <p:spPr>
            <a:xfrm>
              <a:off x="3357202" y="1021302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</p:txBody>
        </p:sp>
      </p:grp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212E2252-40F8-CB33-E2DC-1B558C794EF5}"/>
              </a:ext>
            </a:extLst>
          </p:cNvPr>
          <p:cNvGrpSpPr/>
          <p:nvPr/>
        </p:nvGrpSpPr>
        <p:grpSpPr>
          <a:xfrm>
            <a:off x="7546341" y="2237606"/>
            <a:ext cx="1634066" cy="781853"/>
            <a:chOff x="3031067" y="547226"/>
            <a:chExt cx="1634066" cy="781853"/>
          </a:xfrm>
        </p:grpSpPr>
        <p:grpSp>
          <p:nvGrpSpPr>
            <p:cNvPr id="53" name="Gruppieren 52">
              <a:extLst>
                <a:ext uri="{FF2B5EF4-FFF2-40B4-BE49-F238E27FC236}">
                  <a16:creationId xmlns:a16="http://schemas.microsoft.com/office/drawing/2014/main" id="{3C7BF0B8-26D7-43F9-9060-ACE2CB9E20BD}"/>
                </a:ext>
              </a:extLst>
            </p:cNvPr>
            <p:cNvGrpSpPr/>
            <p:nvPr/>
          </p:nvGrpSpPr>
          <p:grpSpPr>
            <a:xfrm>
              <a:off x="3031067" y="547226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264C7E5E-3CBE-20E5-5B4E-89CC74098F62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CAC2F9CF-3433-325A-8888-C2256E873A21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Load and </a:t>
                </a:r>
                <a:r>
                  <a:rPr lang="de-DE" sz="1200" b="1" dirty="0" err="1"/>
                  <a:t>Verify</a:t>
                </a:r>
                <a:r>
                  <a:rPr lang="de-DE" sz="1200" b="1" dirty="0"/>
                  <a:t> </a:t>
                </a:r>
                <a:r>
                  <a:rPr lang="de-DE" sz="1200" b="1" dirty="0" err="1"/>
                  <a:t>Grid</a:t>
                </a:r>
                <a:r>
                  <a:rPr lang="de-DE" sz="1200" b="1" dirty="0"/>
                  <a:t> Data</a:t>
                </a:r>
              </a:p>
            </p:txBody>
          </p:sp>
        </p:grp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CB0E14E6-28FB-2BCD-45D6-CC6250D15C67}"/>
                </a:ext>
              </a:extLst>
            </p:cNvPr>
            <p:cNvSpPr txBox="1"/>
            <p:nvPr/>
          </p:nvSpPr>
          <p:spPr>
            <a:xfrm>
              <a:off x="3357202" y="1021302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E1659CDA-6D46-BE30-9550-E7FDCFA47995}"/>
              </a:ext>
            </a:extLst>
          </p:cNvPr>
          <p:cNvGrpSpPr/>
          <p:nvPr/>
        </p:nvGrpSpPr>
        <p:grpSpPr>
          <a:xfrm>
            <a:off x="7546341" y="3212283"/>
            <a:ext cx="1634066" cy="997296"/>
            <a:chOff x="3031067" y="547226"/>
            <a:chExt cx="1634066" cy="997296"/>
          </a:xfrm>
        </p:grpSpPr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E7700C1F-2840-97BF-2A85-76A2308C6DA0}"/>
                </a:ext>
              </a:extLst>
            </p:cNvPr>
            <p:cNvGrpSpPr/>
            <p:nvPr/>
          </p:nvGrpSpPr>
          <p:grpSpPr>
            <a:xfrm>
              <a:off x="3031067" y="547226"/>
              <a:ext cx="1634066" cy="997296"/>
              <a:chOff x="677333" y="569114"/>
              <a:chExt cx="1634067" cy="868857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19AF74F4-8E7B-01FE-E42A-A7E7FEA45253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79450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7D2C125A-9E9F-027E-A5EC-31C273F23A1A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Main Simulation Engine </a:t>
                </a:r>
              </a:p>
            </p:txBody>
          </p:sp>
        </p:grp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C4FEBF88-E6E9-0F96-E1F4-A4F812E4F7E0}"/>
                </a:ext>
              </a:extLst>
            </p:cNvPr>
            <p:cNvSpPr txBox="1"/>
            <p:nvPr/>
          </p:nvSpPr>
          <p:spPr>
            <a:xfrm>
              <a:off x="3357202" y="1021302"/>
              <a:ext cx="987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</p:txBody>
        </p:sp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8811884E-E47D-5B27-CABB-CB2349F7288D}"/>
              </a:ext>
            </a:extLst>
          </p:cNvPr>
          <p:cNvGrpSpPr/>
          <p:nvPr/>
        </p:nvGrpSpPr>
        <p:grpSpPr>
          <a:xfrm>
            <a:off x="7546341" y="4403301"/>
            <a:ext cx="1634066" cy="997296"/>
            <a:chOff x="3031067" y="547226"/>
            <a:chExt cx="1634066" cy="997296"/>
          </a:xfrm>
        </p:grpSpPr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2FD2DC8C-DDB3-2DE3-11C6-4144D5166DCA}"/>
                </a:ext>
              </a:extLst>
            </p:cNvPr>
            <p:cNvGrpSpPr/>
            <p:nvPr/>
          </p:nvGrpSpPr>
          <p:grpSpPr>
            <a:xfrm>
              <a:off x="3031067" y="547226"/>
              <a:ext cx="1634066" cy="997296"/>
              <a:chOff x="677333" y="569114"/>
              <a:chExt cx="1634067" cy="868857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27D84197-8538-1902-E6AD-4BB0DE34F2B5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79450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2EE94762-3CF2-B57C-00B7-AE546247B9BC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Policy Interface and </a:t>
                </a:r>
                <a:r>
                  <a:rPr lang="de-DE" sz="1200" b="1" dirty="0" err="1"/>
                  <a:t>Logic</a:t>
                </a:r>
                <a:endParaRPr lang="de-DE" sz="1200" b="1" dirty="0"/>
              </a:p>
            </p:txBody>
          </p:sp>
        </p:grp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7B2CA6ED-C4F9-1712-C556-B08B39F3025F}"/>
                </a:ext>
              </a:extLst>
            </p:cNvPr>
            <p:cNvSpPr txBox="1"/>
            <p:nvPr/>
          </p:nvSpPr>
          <p:spPr>
            <a:xfrm>
              <a:off x="3357202" y="1021302"/>
              <a:ext cx="9875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D989553A-611D-627F-DB8A-B1A066C99147}"/>
              </a:ext>
            </a:extLst>
          </p:cNvPr>
          <p:cNvGrpSpPr/>
          <p:nvPr/>
        </p:nvGrpSpPr>
        <p:grpSpPr>
          <a:xfrm>
            <a:off x="7546341" y="5604592"/>
            <a:ext cx="1634066" cy="781853"/>
            <a:chOff x="762001" y="676655"/>
            <a:chExt cx="1634066" cy="781853"/>
          </a:xfrm>
        </p:grpSpPr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6D9E49EF-3889-8130-8878-6284E9814E37}"/>
                </a:ext>
              </a:extLst>
            </p:cNvPr>
            <p:cNvGrpSpPr/>
            <p:nvPr/>
          </p:nvGrpSpPr>
          <p:grpSpPr>
            <a:xfrm>
              <a:off x="762001" y="676655"/>
              <a:ext cx="1634066" cy="781853"/>
              <a:chOff x="677333" y="569114"/>
              <a:chExt cx="1634067" cy="6811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75" name="Rechteck 74">
                <a:extLst>
                  <a:ext uri="{FF2B5EF4-FFF2-40B4-BE49-F238E27FC236}">
                    <a16:creationId xmlns:a16="http://schemas.microsoft.com/office/drawing/2014/main" id="{A8CD16CF-18A2-2DA8-E978-56138767A1EF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6068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76" name="Rechteck 75">
                <a:extLst>
                  <a:ext uri="{FF2B5EF4-FFF2-40B4-BE49-F238E27FC236}">
                    <a16:creationId xmlns:a16="http://schemas.microsoft.com/office/drawing/2014/main" id="{0A6D51F5-2786-0873-F23E-7E80B67EFB49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Implement Output </a:t>
                </a:r>
                <a:r>
                  <a:rPr lang="de-DE" sz="1200" b="1" dirty="0" err="1"/>
                  <a:t>Statistics</a:t>
                </a:r>
                <a:endParaRPr lang="de-DE" sz="1200" b="1" dirty="0"/>
              </a:p>
            </p:txBody>
          </p:sp>
        </p:grp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2B73179B-C257-4515-5EE0-46A53671A284}"/>
                </a:ext>
              </a:extLst>
            </p:cNvPr>
            <p:cNvSpPr txBox="1"/>
            <p:nvPr/>
          </p:nvSpPr>
          <p:spPr>
            <a:xfrm>
              <a:off x="1088136" y="1150731"/>
              <a:ext cx="9875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0537C4BF-7271-2CEF-209C-3A5D3C4D9554}"/>
              </a:ext>
            </a:extLst>
          </p:cNvPr>
          <p:cNvGrpSpPr/>
          <p:nvPr/>
        </p:nvGrpSpPr>
        <p:grpSpPr>
          <a:xfrm>
            <a:off x="9836488" y="1267435"/>
            <a:ext cx="1634066" cy="1212740"/>
            <a:chOff x="762001" y="676655"/>
            <a:chExt cx="1634066" cy="1212740"/>
          </a:xfrm>
        </p:grpSpPr>
        <p:grpSp>
          <p:nvGrpSpPr>
            <p:cNvPr id="78" name="Gruppieren 77">
              <a:extLst>
                <a:ext uri="{FF2B5EF4-FFF2-40B4-BE49-F238E27FC236}">
                  <a16:creationId xmlns:a16="http://schemas.microsoft.com/office/drawing/2014/main" id="{771B9AD8-9CE0-1D18-462C-83B284E15FE9}"/>
                </a:ext>
              </a:extLst>
            </p:cNvPr>
            <p:cNvGrpSpPr/>
            <p:nvPr/>
          </p:nvGrpSpPr>
          <p:grpSpPr>
            <a:xfrm>
              <a:off x="762001" y="676655"/>
              <a:ext cx="1634066" cy="1207008"/>
              <a:chOff x="677333" y="569114"/>
              <a:chExt cx="1634067" cy="10515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80" name="Rechteck 79">
                <a:extLst>
                  <a:ext uri="{FF2B5EF4-FFF2-40B4-BE49-F238E27FC236}">
                    <a16:creationId xmlns:a16="http://schemas.microsoft.com/office/drawing/2014/main" id="{D0B1F231-B3B6-1283-4749-753F891F5DFD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9772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81" name="Rechteck 80">
                <a:extLst>
                  <a:ext uri="{FF2B5EF4-FFF2-40B4-BE49-F238E27FC236}">
                    <a16:creationId xmlns:a16="http://schemas.microsoft.com/office/drawing/2014/main" id="{090DA5FF-EA3B-698C-F59B-914D89D1E3C1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Model Validation</a:t>
                </a:r>
              </a:p>
            </p:txBody>
          </p:sp>
        </p:grp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4DE7C358-D41D-BDF7-7DD9-DD451627F6FB}"/>
                </a:ext>
              </a:extLst>
            </p:cNvPr>
            <p:cNvSpPr txBox="1"/>
            <p:nvPr/>
          </p:nvSpPr>
          <p:spPr>
            <a:xfrm>
              <a:off x="1088136" y="1150731"/>
              <a:ext cx="987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9BCE8F27-D7D8-B5C9-8B94-FE4C008593C7}"/>
              </a:ext>
            </a:extLst>
          </p:cNvPr>
          <p:cNvGrpSpPr/>
          <p:nvPr/>
        </p:nvGrpSpPr>
        <p:grpSpPr>
          <a:xfrm>
            <a:off x="9836488" y="2637800"/>
            <a:ext cx="1634066" cy="1212740"/>
            <a:chOff x="762001" y="676655"/>
            <a:chExt cx="1634066" cy="1212740"/>
          </a:xfrm>
        </p:grpSpPr>
        <p:grpSp>
          <p:nvGrpSpPr>
            <p:cNvPr id="83" name="Gruppieren 82">
              <a:extLst>
                <a:ext uri="{FF2B5EF4-FFF2-40B4-BE49-F238E27FC236}">
                  <a16:creationId xmlns:a16="http://schemas.microsoft.com/office/drawing/2014/main" id="{E1FED868-E57C-8F24-2379-2BEEE542F3C2}"/>
                </a:ext>
              </a:extLst>
            </p:cNvPr>
            <p:cNvGrpSpPr/>
            <p:nvPr/>
          </p:nvGrpSpPr>
          <p:grpSpPr>
            <a:xfrm>
              <a:off x="762001" y="676655"/>
              <a:ext cx="1634066" cy="1207008"/>
              <a:chOff x="677333" y="569114"/>
              <a:chExt cx="1634067" cy="10515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85" name="Rechteck 84">
                <a:extLst>
                  <a:ext uri="{FF2B5EF4-FFF2-40B4-BE49-F238E27FC236}">
                    <a16:creationId xmlns:a16="http://schemas.microsoft.com/office/drawing/2014/main" id="{C28A2BBD-9705-34FC-8E5D-111CB2F3EAC3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9772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86" name="Rechteck 85">
                <a:extLst>
                  <a:ext uri="{FF2B5EF4-FFF2-40B4-BE49-F238E27FC236}">
                    <a16:creationId xmlns:a16="http://schemas.microsoft.com/office/drawing/2014/main" id="{A94EB0B2-9240-847A-9F30-E3DCC03E3C67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Pilot Runs</a:t>
                </a:r>
              </a:p>
            </p:txBody>
          </p:sp>
        </p:grpSp>
        <p:sp>
          <p:nvSpPr>
            <p:cNvPr id="84" name="Textfeld 83">
              <a:extLst>
                <a:ext uri="{FF2B5EF4-FFF2-40B4-BE49-F238E27FC236}">
                  <a16:creationId xmlns:a16="http://schemas.microsoft.com/office/drawing/2014/main" id="{020857E4-1BF1-052F-058C-D20363761741}"/>
                </a:ext>
              </a:extLst>
            </p:cNvPr>
            <p:cNvSpPr txBox="1"/>
            <p:nvPr/>
          </p:nvSpPr>
          <p:spPr>
            <a:xfrm>
              <a:off x="1088136" y="1150731"/>
              <a:ext cx="987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C7950C94-5AEB-5F71-05CF-72E3E99FD282}"/>
              </a:ext>
            </a:extLst>
          </p:cNvPr>
          <p:cNvGrpSpPr/>
          <p:nvPr/>
        </p:nvGrpSpPr>
        <p:grpSpPr>
          <a:xfrm>
            <a:off x="9836488" y="4003404"/>
            <a:ext cx="1634066" cy="1212740"/>
            <a:chOff x="762001" y="676655"/>
            <a:chExt cx="1634066" cy="1212740"/>
          </a:xfrm>
        </p:grpSpPr>
        <p:grpSp>
          <p:nvGrpSpPr>
            <p:cNvPr id="88" name="Gruppieren 87">
              <a:extLst>
                <a:ext uri="{FF2B5EF4-FFF2-40B4-BE49-F238E27FC236}">
                  <a16:creationId xmlns:a16="http://schemas.microsoft.com/office/drawing/2014/main" id="{9E0872FB-F500-E284-4CF0-8DC3CDD6390C}"/>
                </a:ext>
              </a:extLst>
            </p:cNvPr>
            <p:cNvGrpSpPr/>
            <p:nvPr/>
          </p:nvGrpSpPr>
          <p:grpSpPr>
            <a:xfrm>
              <a:off x="762001" y="676655"/>
              <a:ext cx="1634066" cy="1207008"/>
              <a:chOff x="677333" y="569114"/>
              <a:chExt cx="1634067" cy="10515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90" name="Rechteck 89">
                <a:extLst>
                  <a:ext uri="{FF2B5EF4-FFF2-40B4-BE49-F238E27FC236}">
                    <a16:creationId xmlns:a16="http://schemas.microsoft.com/office/drawing/2014/main" id="{61EFE75F-D0E8-F043-43EE-27ACE2C30D02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9772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91" name="Rechteck 90">
                <a:extLst>
                  <a:ext uri="{FF2B5EF4-FFF2-40B4-BE49-F238E27FC236}">
                    <a16:creationId xmlns:a16="http://schemas.microsoft.com/office/drawing/2014/main" id="{221A4B69-46AB-FE02-EDEB-B4D1B83ECAA9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/>
                  <a:t>Experiment Design</a:t>
                </a:r>
              </a:p>
            </p:txBody>
          </p:sp>
        </p:grpSp>
        <p:sp>
          <p:nvSpPr>
            <p:cNvPr id="89" name="Textfeld 88">
              <a:extLst>
                <a:ext uri="{FF2B5EF4-FFF2-40B4-BE49-F238E27FC236}">
                  <a16:creationId xmlns:a16="http://schemas.microsoft.com/office/drawing/2014/main" id="{086D0F6E-B64D-6C44-4280-89F9214FCBC9}"/>
                </a:ext>
              </a:extLst>
            </p:cNvPr>
            <p:cNvSpPr txBox="1"/>
            <p:nvPr/>
          </p:nvSpPr>
          <p:spPr>
            <a:xfrm>
              <a:off x="1088136" y="1150731"/>
              <a:ext cx="987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  <p:grpSp>
        <p:nvGrpSpPr>
          <p:cNvPr id="92" name="Gruppieren 91">
            <a:extLst>
              <a:ext uri="{FF2B5EF4-FFF2-40B4-BE49-F238E27FC236}">
                <a16:creationId xmlns:a16="http://schemas.microsoft.com/office/drawing/2014/main" id="{B330A614-BFE8-7913-E366-7E639F4A5D4D}"/>
              </a:ext>
            </a:extLst>
          </p:cNvPr>
          <p:cNvGrpSpPr/>
          <p:nvPr/>
        </p:nvGrpSpPr>
        <p:grpSpPr>
          <a:xfrm>
            <a:off x="9836488" y="5361097"/>
            <a:ext cx="1634066" cy="1212740"/>
            <a:chOff x="762001" y="676655"/>
            <a:chExt cx="1634066" cy="1212740"/>
          </a:xfrm>
        </p:grpSpPr>
        <p:grpSp>
          <p:nvGrpSpPr>
            <p:cNvPr id="93" name="Gruppieren 92">
              <a:extLst>
                <a:ext uri="{FF2B5EF4-FFF2-40B4-BE49-F238E27FC236}">
                  <a16:creationId xmlns:a16="http://schemas.microsoft.com/office/drawing/2014/main" id="{92B28A33-D14D-3A85-F885-82122B2E3986}"/>
                </a:ext>
              </a:extLst>
            </p:cNvPr>
            <p:cNvGrpSpPr/>
            <p:nvPr/>
          </p:nvGrpSpPr>
          <p:grpSpPr>
            <a:xfrm>
              <a:off x="762001" y="676655"/>
              <a:ext cx="1634066" cy="1207008"/>
              <a:chOff x="677333" y="569114"/>
              <a:chExt cx="1634067" cy="1051560"/>
            </a:xfrm>
            <a:solidFill>
              <a:schemeClr val="tx2">
                <a:lumMod val="75000"/>
                <a:lumOff val="25000"/>
              </a:schemeClr>
            </a:solidFill>
          </p:grpSpPr>
          <p:sp>
            <p:nvSpPr>
              <p:cNvPr id="95" name="Rechteck 94">
                <a:extLst>
                  <a:ext uri="{FF2B5EF4-FFF2-40B4-BE49-F238E27FC236}">
                    <a16:creationId xmlns:a16="http://schemas.microsoft.com/office/drawing/2014/main" id="{A8DBEB8F-BE11-121F-C696-6E1D9D174418}"/>
                  </a:ext>
                </a:extLst>
              </p:cNvPr>
              <p:cNvSpPr/>
              <p:nvPr/>
            </p:nvSpPr>
            <p:spPr>
              <a:xfrm>
                <a:off x="677333" y="643467"/>
                <a:ext cx="1634067" cy="977207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96" name="Rechteck 95">
                <a:extLst>
                  <a:ext uri="{FF2B5EF4-FFF2-40B4-BE49-F238E27FC236}">
                    <a16:creationId xmlns:a16="http://schemas.microsoft.com/office/drawing/2014/main" id="{5C475687-48A0-9171-2F04-EDD9AF955E07}"/>
                  </a:ext>
                </a:extLst>
              </p:cNvPr>
              <p:cNvSpPr/>
              <p:nvPr/>
            </p:nvSpPr>
            <p:spPr>
              <a:xfrm>
                <a:off x="677333" y="569114"/>
                <a:ext cx="1634067" cy="413020"/>
              </a:xfrm>
              <a:prstGeom prst="rect">
                <a:avLst/>
              </a:prstGeom>
              <a:grpFill/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200" b="1" dirty="0" err="1"/>
                  <a:t>Production</a:t>
                </a:r>
                <a:r>
                  <a:rPr lang="de-DE" sz="1200" b="1" dirty="0"/>
                  <a:t> Runs</a:t>
                </a:r>
              </a:p>
            </p:txBody>
          </p:sp>
        </p:grpSp>
        <p:sp>
          <p:nvSpPr>
            <p:cNvPr id="94" name="Textfeld 93">
              <a:extLst>
                <a:ext uri="{FF2B5EF4-FFF2-40B4-BE49-F238E27FC236}">
                  <a16:creationId xmlns:a16="http://schemas.microsoft.com/office/drawing/2014/main" id="{F3AAC105-1BCD-6493-9B4C-C5B56AA566D3}"/>
                </a:ext>
              </a:extLst>
            </p:cNvPr>
            <p:cNvSpPr txBox="1"/>
            <p:nvPr/>
          </p:nvSpPr>
          <p:spPr>
            <a:xfrm>
              <a:off x="1088136" y="1150731"/>
              <a:ext cx="987552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Julian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Simon</a:t>
              </a:r>
            </a:p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Bastian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7214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Breitbild</PresentationFormat>
  <Paragraphs>109</Paragraphs>
  <Slides>2</Slides>
  <Notes>0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Bastian Wiesner</dc:creator>
  <cp:lastModifiedBy>Bastian Wiesner</cp:lastModifiedBy>
  <cp:revision>3</cp:revision>
  <dcterms:created xsi:type="dcterms:W3CDTF">2026-05-20T17:51:31Z</dcterms:created>
  <dcterms:modified xsi:type="dcterms:W3CDTF">2026-05-20T18:00:40Z</dcterms:modified>
</cp:coreProperties>
</file>