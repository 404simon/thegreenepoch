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86" d="100"/>
          <a:sy n="86" d="100"/>
        </p:scale>
        <p:origin x="96" y="88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D50A13-F7F8-C8EB-FAA5-73023992F5E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DD9E21-7D81-24C4-F184-EDA8BE62591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4AE41E-BAA7-E192-3C10-D761C7C204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D6A00D-25E7-E371-98E3-96043B0A1E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CEDE4CC-651A-F199-3794-129D30CAB57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12382F-5111-7A62-9F4C-C88CF4335F4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26E90B-3431-0D67-1756-3377BD47F8C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AC1574-5586-50D0-794B-091D483F51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297816-FF2F-6652-4C99-83BFE3275C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B228FC-3282-C4D1-801C-2EDD5808FA2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16C2373-59C3-65A7-3BD3-EADB983E2DA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DEFC21-1ED7-11F7-272F-1F411061170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7032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1781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512441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158597120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321534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00824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8724205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081622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14206427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192766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328816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92912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746199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173830643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63561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1418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8079249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186213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8765474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172197409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867785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1994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0165167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605832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3511705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351965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628157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120441702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367987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816870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4891036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2026447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314753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212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148177574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88945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17200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0290882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1942481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3392428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179590178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059747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34131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18878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37573118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6683550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208438282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645481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95898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4795411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6265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20517124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00945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38207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9301073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08012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151684256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564443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687910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635684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683762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846CE7D5-CF57-46EF-B807-FDD0502418D4}" type="datetimeFigureOut">
              <a:rPr lang="en-US"/>
              <a:t>5/16/2026</a:t>
            </a:fld>
            <a:endParaRPr lang="en-US"/>
          </a:p>
        </p:txBody>
      </p:sp>
      <p:sp>
        <p:nvSpPr>
          <p:cNvPr id="7388905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656834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330EA680-D336-4FF7-8B7A-9848BB0A1C3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14346" name="Title 1"/>
          <p:cNvSpPr>
            <a:spLocks noGrp="1"/>
          </p:cNvSpPr>
          <p:nvPr>
            <p:ph type="ctrTitle"/>
          </p:nvPr>
        </p:nvSpPr>
        <p:spPr bwMode="auto">
          <a:xfrm>
            <a:off x="659027" y="3428956"/>
            <a:ext cx="10873945" cy="2325817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US" sz="4800" b="1">
                <a:solidFill>
                  <a:srgbClr val="1F2328"/>
                </a:solidFill>
                <a:highlight>
                  <a:srgbClr val="FFFFFF"/>
                </a:highlight>
              </a:rPr>
              <a:t>Greenhouse-Gas-Emission-Aware Optimization </a:t>
            </a:r>
            <a:br>
              <a:rPr lang="en-US" sz="4800" b="1">
                <a:solidFill>
                  <a:srgbClr val="1F2328"/>
                </a:solidFill>
                <a:highlight>
                  <a:srgbClr val="FFFFFF"/>
                </a:highlight>
              </a:rPr>
            </a:br>
            <a:r>
              <a:rPr lang="en-US" sz="3600" b="1">
                <a:solidFill>
                  <a:srgbClr val="1F2328"/>
                </a:solidFill>
                <a:highlight>
                  <a:srgbClr val="FFFFFF"/>
                </a:highlight>
              </a:rPr>
              <a:t>of </a:t>
            </a:r>
            <a:br>
              <a:rPr lang="en-US" sz="4800" b="1">
                <a:highlight>
                  <a:srgbClr val="FFFFFF"/>
                </a:highlight>
              </a:rPr>
            </a:br>
            <a:r>
              <a:rPr lang="en-US" sz="4800" b="1">
                <a:solidFill>
                  <a:srgbClr val="1F2328"/>
                </a:solidFill>
                <a:highlight>
                  <a:srgbClr val="FFFFFF"/>
                </a:highlight>
              </a:rPr>
              <a:t>Large-Language-Model Training</a:t>
            </a:r>
            <a:br>
              <a:rPr lang="en-US" sz="4800" b="1">
                <a:solidFill>
                  <a:srgbClr val="1F2328"/>
                </a:solidFill>
                <a:highlight>
                  <a:srgbClr val="FFFFFF"/>
                </a:highlight>
              </a:rPr>
            </a:br>
            <a:br>
              <a:rPr lang="en-US" sz="4800" b="1">
                <a:highlight>
                  <a:srgbClr val="FFFFFF"/>
                </a:highlight>
              </a:rPr>
            </a:br>
            <a:r>
              <a:rPr lang="en-US" sz="4000">
                <a:solidFill>
                  <a:srgbClr val="1F2328"/>
                </a:solidFill>
                <a:highlight>
                  <a:srgbClr val="FFFFFF"/>
                </a:highlight>
              </a:rPr>
              <a:t>(Simulation and Modeling II)</a:t>
            </a:r>
            <a:endParaRPr lang="en-US" sz="4000"/>
          </a:p>
          <a:p>
            <a:pPr>
              <a:defRPr/>
            </a:pPr>
            <a:endParaRPr lang="en-US" sz="4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75614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Motivation</a:t>
            </a:r>
            <a:endParaRPr/>
          </a:p>
        </p:txBody>
      </p:sp>
      <p:sp>
        <p:nvSpPr>
          <p:cNvPr id="1217288761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algn="just">
              <a:defRPr/>
            </a:pP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LLM training involves thousands of GPU cycles over a period of couple of months. </a:t>
            </a:r>
            <a:endParaRPr lang="en-US" sz="1800">
              <a:ea typeface="+mn-lt"/>
              <a:cs typeface="+mn-lt"/>
            </a:endParaRPr>
          </a:p>
          <a:p>
            <a:pPr algn="just">
              <a:defRPr/>
            </a:pP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CO2 consumption from LLM is immense, resulting in high amount of CO2 emission.</a:t>
            </a:r>
            <a:endParaRPr/>
          </a:p>
          <a:p>
            <a:pPr algn="just">
              <a:defRPr/>
            </a:pP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The change of CO2 intensity depends on renewable energy </a:t>
            </a: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used during</a:t>
            </a: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 training in an area.</a:t>
            </a:r>
            <a:endParaRPr lang="en-US" sz="1800">
              <a:ea typeface="+mn-lt"/>
              <a:cs typeface="+mn-lt"/>
            </a:endParaRPr>
          </a:p>
          <a:p>
            <a:pPr algn="just">
              <a:defRPr/>
            </a:pP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Proper coordination between training times and energy grid usage reduces CO2 emission.</a:t>
            </a:r>
            <a:endParaRPr lang="en-US" sz="1800">
              <a:ea typeface="+mn-lt"/>
              <a:cs typeface="+mn-lt"/>
            </a:endParaRPr>
          </a:p>
          <a:p>
            <a:pPr algn="just">
              <a:defRPr/>
            </a:pP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Simulation study quantify trade-off between reduced CO2 emissions and training duration.</a:t>
            </a:r>
            <a:endParaRPr lang="en-US" sz="1800"/>
          </a:p>
          <a:p>
            <a:pPr>
              <a:defRPr/>
            </a:pPr>
            <a:r>
              <a:rPr lang="de-DE">
                <a:solidFill>
                  <a:srgbClr val="000000"/>
                </a:solidFill>
              </a:rPr>
              <a:t>TODO: Were only simulating the pretraining phase</a:t>
            </a:r>
            <a:r>
              <a:rPr lang="de-DE">
                <a:solidFill>
                  <a:srgbClr val="000000"/>
                </a:solidFill>
              </a:rPr>
              <a:t> (and show diagram that it is the most time/energy consuming phase)</a:t>
            </a:r>
            <a:endParaRPr lang="de-DE">
              <a:solidFill>
                <a:srgbClr val="000000"/>
              </a:solidFill>
            </a:endParaRPr>
          </a:p>
          <a:p>
            <a:pPr>
              <a:defRPr/>
            </a:pPr>
            <a:r>
              <a:rPr lang="en-US" sz="2000"/>
              <a:t>Citations:</a:t>
            </a:r>
            <a:endParaRPr lang="en-US">
              <a:solidFill>
                <a:srgbClr val="000000"/>
              </a:solidFill>
            </a:endParaRPr>
          </a:p>
          <a:p>
            <a:pPr>
              <a:defRPr/>
            </a:pPr>
            <a:r>
              <a:rPr lang="en-US" sz="1800">
                <a:ea typeface="+mn-lt"/>
                <a:cs typeface="+mn-lt"/>
              </a:rPr>
              <a:t>KIMI K2: OPEN AGENTIC INTELLIGENCE, 2023</a:t>
            </a:r>
            <a:endParaRPr lang="en-US" sz="1800">
              <a:ea typeface="+mn-lt"/>
              <a:cs typeface="+mn-lt"/>
            </a:endParaRPr>
          </a:p>
          <a:p>
            <a:pPr>
              <a:defRPr/>
            </a:pPr>
            <a:r>
              <a:rPr lang="en-US" sz="1800">
                <a:ea typeface="+mn-lt"/>
                <a:cs typeface="+mn-lt"/>
              </a:rPr>
              <a:t>DeepSeek-V3 Technical Report, 2026</a:t>
            </a:r>
            <a:endParaRPr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07234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Project Objectives</a:t>
            </a:r>
            <a:endParaRPr/>
          </a:p>
        </p:txBody>
      </p:sp>
      <p:sp>
        <p:nvSpPr>
          <p:cNvPr id="1985476924" name="Content Placeholder 2"/>
          <p:cNvSpPr>
            <a:spLocks noGrp="1"/>
          </p:cNvSpPr>
          <p:nvPr>
            <p:ph idx="1"/>
          </p:nvPr>
        </p:nvSpPr>
        <p:spPr bwMode="auto"/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  <a:defRPr/>
            </a:pPr>
            <a:r>
              <a:rPr lang="en-US"/>
              <a:t>Obligatory:</a:t>
            </a:r>
            <a:endParaRPr/>
          </a:p>
          <a:p>
            <a:pPr marL="514350" indent="-514350">
              <a:defRPr/>
            </a:pPr>
            <a:r>
              <a:rPr lang="en-US"/>
              <a:t>Carbon Intensity and Temporal Trade-offs.</a:t>
            </a:r>
            <a:endParaRPr/>
          </a:p>
          <a:p>
            <a:pPr marL="514350" indent="-514350">
              <a:defRPr/>
            </a:pPr>
            <a:r>
              <a:rPr lang="en-US"/>
              <a:t>Impact Assessment on SOTA </a:t>
            </a:r>
            <a:r>
              <a:rPr lang="en-US"/>
              <a:t>Architectures.</a:t>
            </a:r>
            <a:endParaRPr lang="en-US"/>
          </a:p>
          <a:p>
            <a:pPr marL="0" indent="0">
              <a:buNone/>
              <a:defRPr/>
            </a:pPr>
            <a:endParaRPr lang="en-US"/>
          </a:p>
          <a:p>
            <a:pPr marL="0" indent="0">
              <a:buNone/>
              <a:defRPr/>
            </a:pPr>
            <a:r>
              <a:rPr lang="en-US"/>
              <a:t>Wishful:</a:t>
            </a:r>
            <a:endParaRPr lang="en-US"/>
          </a:p>
          <a:p>
            <a:pPr marL="514350" indent="-514350">
              <a:defRPr/>
            </a:pPr>
            <a:r>
              <a:rPr lang="en-US"/>
              <a:t>Spatiotemporal Optimization.</a:t>
            </a:r>
            <a:endParaRPr/>
          </a:p>
          <a:p>
            <a:pPr marL="514350" indent="-514350">
              <a:defRPr/>
            </a:pPr>
            <a:r>
              <a:rPr lang="en-US"/>
              <a:t>Geospatial Grid Analysis.</a:t>
            </a:r>
            <a:endParaRPr/>
          </a:p>
          <a:p>
            <a:pPr marL="0" indent="0">
              <a:buNone/>
              <a:defRPr/>
            </a:pPr>
            <a:endParaRPr lang="en-US"/>
          </a:p>
          <a:p>
            <a:pPr marL="0" indent="0">
              <a:buNone/>
              <a:defRPr/>
            </a:pPr>
            <a:r>
              <a:rPr lang="en-US"/>
              <a:t>Optional:</a:t>
            </a:r>
            <a:endParaRPr/>
          </a:p>
          <a:p>
            <a:pPr marL="514350" indent="-514350">
              <a:defRPr/>
            </a:pPr>
            <a:r>
              <a:rPr lang="en-US"/>
              <a:t>Computational Granularity and Resumption Logic</a:t>
            </a:r>
            <a:endParaRPr/>
          </a:p>
          <a:p>
            <a:pPr marL="0" indent="0">
              <a:buNone/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5873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Show Electricity Map</a:t>
            </a:r>
            <a:endParaRPr/>
          </a:p>
        </p:txBody>
      </p:sp>
      <p:sp>
        <p:nvSpPr>
          <p:cNvPr id="147045020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42627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Parameters</a:t>
            </a:r>
            <a:endParaRPr/>
          </a:p>
        </p:txBody>
      </p:sp>
      <p:sp>
        <p:nvSpPr>
          <p:cNvPr id="45590299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de-DE"/>
              <a:t>Table with most important parameters that are necessary for the activity diagram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7026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solidFill>
                  <a:srgbClr val="1F2328"/>
                </a:solidFill>
                <a:highlight>
                  <a:srgbClr val="FFFFFF"/>
                </a:highlight>
              </a:rPr>
              <a:t>Optimization Problem</a:t>
            </a:r>
            <a:endParaRPr lang="en-US"/>
          </a:p>
        </p:txBody>
      </p:sp>
      <p:sp>
        <p:nvSpPr>
          <p:cNvPr id="706589885" name="Content Placeholder 2"/>
          <p:cNvSpPr>
            <a:spLocks noGrp="1"/>
          </p:cNvSpPr>
          <p:nvPr>
            <p:ph idx="1"/>
          </p:nvPr>
        </p:nvSpPr>
        <p:spPr bwMode="auto"/>
        <p:txBody>
          <a:bodyPr vert="horz" lIns="91440" tIns="45720" rIns="91440" bIns="45720" rtlCol="0" anchor="t">
            <a:normAutofit/>
          </a:bodyPr>
          <a:lstStyle/>
          <a:p>
            <a:pPr>
              <a:defRPr/>
            </a:pPr>
            <a:r>
              <a:rPr lang="en-US">
                <a:ea typeface="+mn-lt"/>
                <a:cs typeface="+mn-lt"/>
              </a:rPr>
              <a:t>Primary key performance indicators (KPIs):</a:t>
            </a:r>
            <a:endParaRPr/>
          </a:p>
          <a:p>
            <a:pPr marL="457200" lvl="1" indent="0">
              <a:buNone/>
              <a:defRPr/>
            </a:pPr>
            <a:r>
              <a:rPr lang="en-US"/>
              <a:t>&lt;Formula&gt;</a:t>
            </a:r>
            <a:br>
              <a:rPr lang="en-US"/>
            </a:br>
            <a:endParaRPr lang="en-US" sz="1600"/>
          </a:p>
          <a:p>
            <a:pPr>
              <a:defRPr/>
            </a:pPr>
            <a:r>
              <a:rPr lang="en-US">
                <a:solidFill>
                  <a:srgbClr val="1F2328"/>
                </a:solidFill>
                <a:highlight>
                  <a:srgbClr val="FFFFFF"/>
                </a:highlight>
                <a:ea typeface="+mn-lt"/>
                <a:cs typeface="+mn-lt"/>
              </a:rPr>
              <a:t>Composite score used for ranking policies:</a:t>
            </a:r>
            <a:endParaRPr/>
          </a:p>
          <a:p>
            <a:pPr marL="0" indent="0">
              <a:buNone/>
              <a:defRPr/>
            </a:pPr>
            <a:r>
              <a:rPr lang="en-US" sz="2400">
                <a:solidFill>
                  <a:srgbClr val="000000"/>
                </a:solidFill>
                <a:highlight>
                  <a:srgbClr val="FFFFFF"/>
                </a:highlight>
              </a:rPr>
              <a:t>   &lt;Formula&gt;</a:t>
            </a:r>
            <a:endParaRPr lang="en-US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marL="0" indent="0">
              <a:buNone/>
              <a:defRPr/>
            </a:pPr>
            <a:endParaRPr lang="en-US" sz="1400">
              <a:solidFill>
                <a:srgbClr val="000000"/>
              </a:solidFill>
              <a:highlight>
                <a:srgbClr val="FFFFFF"/>
              </a:highlight>
              <a:ea typeface="+mn-lt"/>
              <a:cs typeface="+mn-lt"/>
            </a:endParaRPr>
          </a:p>
          <a:p>
            <a:pPr>
              <a:defRPr/>
            </a:pPr>
            <a:r>
              <a:rPr lang="en-US">
                <a:solidFill>
                  <a:srgbClr val="1F2328"/>
                </a:solidFill>
                <a:highlight>
                  <a:srgbClr val="FFFFFF"/>
                </a:highlight>
                <a:ea typeface="+mn-lt"/>
                <a:cs typeface="+mn-lt"/>
              </a:rPr>
              <a:t>Optional constraint for practical recommendations:</a:t>
            </a:r>
            <a:endParaRPr/>
          </a:p>
          <a:p>
            <a:pPr marL="0" indent="0">
              <a:buNone/>
              <a:defRPr/>
            </a:pPr>
            <a:r>
              <a:rPr lang="en-US" sz="2400">
                <a:solidFill>
                  <a:srgbClr val="000000"/>
                </a:solidFill>
                <a:highlight>
                  <a:srgbClr val="FFFFFF"/>
                </a:highlight>
              </a:rPr>
              <a:t>   &lt;Formula&gt;</a:t>
            </a:r>
            <a:endParaRPr lang="en-US">
              <a:solidFill>
                <a:srgbClr val="1F2328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80479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Hysteresis</a:t>
            </a:r>
            <a:endParaRPr/>
          </a:p>
        </p:txBody>
      </p:sp>
      <p:sp>
        <p:nvSpPr>
          <p:cNvPr id="168251491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de-DE"/>
              <a:t>Short explanation of the principle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03803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Project Design</a:t>
            </a:r>
            <a:endParaRPr lang="en-US"/>
          </a:p>
        </p:txBody>
      </p:sp>
      <p:pic>
        <p:nvPicPr>
          <p:cNvPr id="1373713542" name="Content Placeholder 11" descr="A screenshot of a computer&#10;&#10;AI-generated content may be incorrect."/>
          <p:cNvPicPr>
            <a:picLocks noChangeAspect="1" noGrp="1"/>
          </p:cNvPicPr>
          <p:nvPr>
            <p:ph idx="1"/>
          </p:nvPr>
        </p:nvPicPr>
        <p:blipFill rotWithShape="1">
          <a:blip r:embed="rId3"/>
          <a:stretch/>
        </p:blipFill>
        <p:spPr bwMode="auto">
          <a:xfrm>
            <a:off x="2590718" y="1362246"/>
            <a:ext cx="7360669" cy="5298690"/>
          </a:xfrm>
          <a:prstGeom prst="rect">
            <a:avLst/>
          </a:prstGeom>
        </p:spPr>
      </p:pic>
      <p:sp>
        <p:nvSpPr>
          <p:cNvPr id="712173005" name=""/>
          <p:cNvSpPr txBox="1"/>
          <p:nvPr/>
        </p:nvSpPr>
        <p:spPr bwMode="auto">
          <a:xfrm rot="0" flipH="0" flipV="0">
            <a:off x="6187898" y="185442"/>
            <a:ext cx="468936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/>
              <a:t>TODO: Update with new svg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43497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Scenarios (67)</a:t>
            </a:r>
            <a:endParaRPr/>
          </a:p>
        </p:txBody>
      </p:sp>
      <p:sp>
        <p:nvSpPr>
          <p:cNvPr id="52053733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de-DE"/>
              <a:t>Add booleans csv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58596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Result Evaluation</a:t>
            </a:r>
            <a:endParaRPr/>
          </a:p>
        </p:txBody>
      </p:sp>
      <p:sp>
        <p:nvSpPr>
          <p:cNvPr id="2019119357" name="Content Placeholder 2"/>
          <p:cNvSpPr>
            <a:spLocks noGrp="1"/>
          </p:cNvSpPr>
          <p:nvPr>
            <p:ph idx="1"/>
          </p:nvPr>
        </p:nvSpPr>
        <p:spPr bwMode="auto"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  <a:defRPr/>
            </a:pPr>
            <a:r>
              <a:rPr lang="en-US"/>
              <a:t>Verification</a:t>
            </a:r>
            <a:endParaRPr lang="en-US"/>
          </a:p>
          <a:p>
            <a:pPr>
              <a:buFont typeface="Arial"/>
              <a:buChar char="•"/>
              <a:defRPr/>
            </a:pP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Measure the average and 95th percentile batch delay, and total CO2 saving.</a:t>
            </a:r>
            <a:endParaRPr lang="en-US" sz="1800"/>
          </a:p>
          <a:p>
            <a:pPr>
              <a:buFont typeface="Arial"/>
              <a:buChar char="•"/>
              <a:defRPr/>
            </a:pP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Vary training duration, energy consumption, starting </a:t>
            </a: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time, region, season, and CO2 threshold.</a:t>
            </a:r>
            <a:endParaRPr lang="en-US" sz="1800">
              <a:highlight>
                <a:srgbClr val="FFFFFF"/>
              </a:highlight>
            </a:endParaRPr>
          </a:p>
          <a:p>
            <a:pPr>
              <a:buFont typeface="Arial"/>
              <a:buChar char="•"/>
              <a:defRPr/>
            </a:pPr>
            <a:endParaRPr lang="en-US" sz="160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marL="0" indent="0">
              <a:buNone/>
              <a:defRPr/>
            </a:pPr>
            <a:r>
              <a:rPr lang="en-US"/>
              <a:t>Validation</a:t>
            </a:r>
            <a:endParaRPr/>
          </a:p>
          <a:p>
            <a:pPr>
              <a:defRPr/>
            </a:pP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Validate against model training using the historic data.</a:t>
            </a:r>
            <a:endParaRPr/>
          </a:p>
          <a:p>
            <a:pPr>
              <a:defRPr/>
            </a:pPr>
            <a:r>
              <a:rPr lang="en-US" sz="1800">
                <a:highlight>
                  <a:srgbClr val="FFFFFF"/>
                </a:highlight>
                <a:ea typeface="+mn-lt"/>
                <a:cs typeface="+mn-lt"/>
              </a:rPr>
              <a:t>Using 'Electricity Maps' API for CO2 intensity data.</a:t>
            </a:r>
            <a:endParaRPr lang="en-US" sz="1800">
              <a:highlight>
                <a:srgbClr val="FFFFFF"/>
              </a:highlight>
              <a:ea typeface="Aptos"/>
              <a:cs typeface="Aptos"/>
            </a:endParaRPr>
          </a:p>
          <a:p>
            <a:pPr>
              <a:defRPr/>
            </a:pPr>
            <a:endParaRPr lang="en-US" sz="1800">
              <a:highlight>
                <a:srgbClr val="FFFFFF"/>
              </a:highlight>
            </a:endParaRPr>
          </a:p>
          <a:p>
            <a:pPr>
              <a:defRPr/>
            </a:pPr>
            <a:r>
              <a:rPr lang="de-DE" sz="1800">
                <a:ea typeface="Aptos"/>
                <a:cs typeface="Aptos"/>
              </a:rPr>
              <a:t>TODO presentation: List all verification and verification methods and explain for each of them just one</a:t>
            </a:r>
            <a:endParaRPr lang="en-US" sz="1800">
              <a:highlight>
                <a:srgbClr val="FFFFFF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48293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GANT CHART</a:t>
            </a:r>
            <a:endParaRPr/>
          </a:p>
        </p:txBody>
      </p:sp>
      <p:sp>
        <p:nvSpPr>
          <p:cNvPr id="195752235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29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Way Forward</a:t>
            </a:r>
            <a:endParaRPr/>
          </a:p>
        </p:txBody>
      </p:sp>
      <p:sp>
        <p:nvSpPr>
          <p:cNvPr id="242426235" name="Content Placeholder 2"/>
          <p:cNvSpPr>
            <a:spLocks noGrp="1"/>
          </p:cNvSpPr>
          <p:nvPr>
            <p:ph idx="1"/>
          </p:nvPr>
        </p:nvSpPr>
        <p:spPr bwMode="auto"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  <a:defRPr/>
            </a:pPr>
            <a:r>
              <a:rPr lang="en-US"/>
              <a:t>Questions?</a:t>
            </a:r>
            <a:endParaRPr/>
          </a:p>
          <a:p>
            <a:pPr marL="0" indent="0">
              <a:buNone/>
              <a:defRPr/>
            </a:pPr>
            <a:endParaRPr lang="en-US"/>
          </a:p>
          <a:p>
            <a:pPr marL="0" indent="0" algn="ctr">
              <a:buNone/>
              <a:defRPr/>
            </a:pPr>
            <a:endParaRPr lang="en-US"/>
          </a:p>
          <a:p>
            <a:pPr marL="0" indent="0" algn="ctr">
              <a:buNone/>
              <a:defRPr/>
            </a:pPr>
            <a:endParaRPr lang="en-US"/>
          </a:p>
          <a:p>
            <a:pPr marL="0" indent="0" algn="ctr">
              <a:buNone/>
              <a:defRPr/>
            </a:pPr>
            <a:r>
              <a:rPr lang="en-US"/>
              <a:t>Thank you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343</cp:revision>
  <dcterms:created xsi:type="dcterms:W3CDTF">2026-05-16T11:41:25Z</dcterms:created>
  <dcterms:modified xsi:type="dcterms:W3CDTF">2026-05-18T09:06:48Z</dcterms:modified>
</cp:coreProperties>
</file>