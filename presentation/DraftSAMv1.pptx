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7" r:id="rId4"/>
    <p:sldId id="259" r:id="rId5"/>
    <p:sldId id="261" r:id="rId6"/>
    <p:sldId id="263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91BFC8-9EC5-9DC5-A2FC-BF327A262F7E}" v="19" dt="2026-05-16T15:25:57.304"/>
    <p1510:client id="{F1A0913C-D0FA-C169-0FFA-3020A48D0E91}" v="1114" dt="2026-05-16T15:21:56.8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9027" y="3428957"/>
            <a:ext cx="10873945" cy="2325817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1F2328"/>
                </a:solidFill>
                <a:highlight>
                  <a:srgbClr val="FFFFFF"/>
                </a:highlight>
              </a:rPr>
              <a:t>Greenhouse-Gas-Emission-Aware Optimization </a:t>
            </a:r>
            <a:br>
              <a:rPr lang="en-US" sz="4800" b="1" dirty="0">
                <a:solidFill>
                  <a:srgbClr val="1F2328"/>
                </a:solidFill>
                <a:highlight>
                  <a:srgbClr val="FFFFFF"/>
                </a:highlight>
              </a:rPr>
            </a:br>
            <a:r>
              <a:rPr lang="en-US" sz="3600" b="1" dirty="0">
                <a:solidFill>
                  <a:srgbClr val="1F2328"/>
                </a:solidFill>
                <a:highlight>
                  <a:srgbClr val="FFFFFF"/>
                </a:highlight>
              </a:rPr>
              <a:t>of </a:t>
            </a:r>
            <a:br>
              <a:rPr lang="en-US" sz="4800" b="1" dirty="0">
                <a:highlight>
                  <a:srgbClr val="FFFFFF"/>
                </a:highlight>
              </a:rPr>
            </a:br>
            <a:r>
              <a:rPr lang="en-US" sz="4800" b="1">
                <a:solidFill>
                  <a:srgbClr val="1F2328"/>
                </a:solidFill>
                <a:highlight>
                  <a:srgbClr val="FFFFFF"/>
                </a:highlight>
              </a:rPr>
              <a:t>Large-Language-Model Training</a:t>
            </a:r>
            <a:br>
              <a:rPr lang="en-US" sz="4800" b="1" dirty="0">
                <a:solidFill>
                  <a:srgbClr val="1F2328"/>
                </a:solidFill>
                <a:highlight>
                  <a:srgbClr val="FFFFFF"/>
                </a:highlight>
              </a:rPr>
            </a:br>
            <a:br>
              <a:rPr lang="en-US" sz="4800" b="1" dirty="0">
                <a:highlight>
                  <a:srgbClr val="FFFFFF"/>
                </a:highlight>
              </a:rPr>
            </a:br>
            <a:r>
              <a:rPr lang="en-US" sz="4000">
                <a:solidFill>
                  <a:srgbClr val="1F2328"/>
                </a:solidFill>
                <a:highlight>
                  <a:srgbClr val="FFFFFF"/>
                </a:highlight>
              </a:rPr>
              <a:t>(Simulation and Modeling II)</a:t>
            </a:r>
            <a:endParaRPr lang="en-US" sz="4000" dirty="0"/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37D33-A64E-F1C6-80E6-5A94FECD4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0BAEC-3D9E-DDE5-BB3C-0F8EFEDC9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sz="1800">
                <a:highlight>
                  <a:srgbClr val="FFFFFF"/>
                </a:highlight>
                <a:ea typeface="+mn-lt"/>
                <a:cs typeface="+mn-lt"/>
              </a:rPr>
              <a:t>LLM training involves thousands of GPU cycles over a period of couple of months. </a:t>
            </a:r>
            <a:endParaRPr lang="en-US" sz="1800">
              <a:ea typeface="+mn-lt"/>
              <a:cs typeface="+mn-lt"/>
            </a:endParaRPr>
          </a:p>
          <a:p>
            <a:pPr algn="just"/>
            <a:r>
              <a:rPr lang="en-US" sz="1800">
                <a:highlight>
                  <a:srgbClr val="FFFFFF"/>
                </a:highlight>
                <a:ea typeface="+mn-lt"/>
                <a:cs typeface="+mn-lt"/>
              </a:rPr>
              <a:t>CO2 consumption from LLM is immense, resulting in high amount of CO2 emission.</a:t>
            </a:r>
          </a:p>
          <a:p>
            <a:pPr algn="just"/>
            <a:r>
              <a:rPr lang="en-US" sz="1800" dirty="0">
                <a:highlight>
                  <a:srgbClr val="FFFFFF"/>
                </a:highlight>
                <a:ea typeface="+mn-lt"/>
                <a:cs typeface="+mn-lt"/>
              </a:rPr>
              <a:t>The change of CO2 intensity depends on renewable energy </a:t>
            </a:r>
            <a:r>
              <a:rPr lang="en-US" sz="1800">
                <a:highlight>
                  <a:srgbClr val="FFFFFF"/>
                </a:highlight>
                <a:ea typeface="+mn-lt"/>
                <a:cs typeface="+mn-lt"/>
              </a:rPr>
              <a:t>used during</a:t>
            </a:r>
            <a:r>
              <a:rPr lang="en-US" sz="1800" dirty="0">
                <a:highlight>
                  <a:srgbClr val="FFFFFF"/>
                </a:highlight>
                <a:ea typeface="+mn-lt"/>
                <a:cs typeface="+mn-lt"/>
              </a:rPr>
              <a:t> training in an area.</a:t>
            </a:r>
            <a:endParaRPr lang="en-US" sz="1800" dirty="0">
              <a:ea typeface="+mn-lt"/>
              <a:cs typeface="+mn-lt"/>
            </a:endParaRPr>
          </a:p>
          <a:p>
            <a:pPr algn="just"/>
            <a:r>
              <a:rPr lang="en-US" sz="1800">
                <a:highlight>
                  <a:srgbClr val="FFFFFF"/>
                </a:highlight>
                <a:ea typeface="+mn-lt"/>
                <a:cs typeface="+mn-lt"/>
              </a:rPr>
              <a:t>Proper coordination between training times and energy grid usage reduces CO2 emission.</a:t>
            </a:r>
            <a:endParaRPr lang="en-US" sz="1800">
              <a:ea typeface="+mn-lt"/>
              <a:cs typeface="+mn-lt"/>
            </a:endParaRPr>
          </a:p>
          <a:p>
            <a:pPr algn="just"/>
            <a:r>
              <a:rPr lang="en-US" sz="1800">
                <a:highlight>
                  <a:srgbClr val="FFFFFF"/>
                </a:highlight>
                <a:ea typeface="+mn-lt"/>
                <a:cs typeface="+mn-lt"/>
              </a:rPr>
              <a:t>Simulation study quantify trade-off between reduced CO2 emissions and training duration.</a:t>
            </a:r>
            <a:endParaRPr lang="en-US" sz="1800"/>
          </a:p>
          <a:p>
            <a:endParaRPr lang="en-US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2000"/>
              <a:t> Citations:</a:t>
            </a:r>
          </a:p>
          <a:p>
            <a:r>
              <a:rPr lang="en-US" sz="1800">
                <a:ea typeface="+mn-lt"/>
                <a:cs typeface="+mn-lt"/>
              </a:rPr>
              <a:t>KIMI K2: OPEN AGENTIC INTELLIGENCE, 2023</a:t>
            </a:r>
            <a:endParaRPr lang="en-US" sz="1800" dirty="0">
              <a:ea typeface="+mn-lt"/>
              <a:cs typeface="+mn-lt"/>
            </a:endParaRPr>
          </a:p>
          <a:p>
            <a:r>
              <a:rPr lang="en-US" sz="1800">
                <a:ea typeface="+mn-lt"/>
                <a:cs typeface="+mn-lt"/>
              </a:rPr>
              <a:t>DeepSeek-V3 Technical Report,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773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A3B6A-33E8-E6E1-43C9-6826FD284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C439F-FE8E-A66D-DF60-60B90B31B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/>
              <a:t>Obligatory:</a:t>
            </a:r>
          </a:p>
          <a:p>
            <a:pPr marL="514350" indent="-514350"/>
            <a:r>
              <a:rPr lang="en-US"/>
              <a:t>Carbon Intensity and Temporal Trade-offs.</a:t>
            </a:r>
          </a:p>
          <a:p>
            <a:pPr marL="514350" indent="-514350"/>
            <a:r>
              <a:rPr lang="en-US" dirty="0"/>
              <a:t>Impact Assessment on SOTA </a:t>
            </a:r>
            <a:r>
              <a:rPr lang="en-US"/>
              <a:t>Architectures.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/>
              <a:t>Wishful:</a:t>
            </a:r>
            <a:endParaRPr lang="en-US" dirty="0"/>
          </a:p>
          <a:p>
            <a:pPr marL="514350" indent="-514350"/>
            <a:r>
              <a:rPr lang="en-US"/>
              <a:t>Spatiotemporal Optimization.</a:t>
            </a:r>
          </a:p>
          <a:p>
            <a:pPr marL="514350" indent="-514350"/>
            <a:r>
              <a:rPr lang="en-US"/>
              <a:t>Geospatial Grid Analysis.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/>
              <a:t>Optional:</a:t>
            </a:r>
          </a:p>
          <a:p>
            <a:pPr marL="514350" indent="-514350"/>
            <a:r>
              <a:rPr lang="en-US"/>
              <a:t>Computational Granularity and Resumption Logic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558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AD3BD-BDC5-7278-CBBE-B51DD3AF9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1F2328"/>
                </a:solidFill>
                <a:highlight>
                  <a:srgbClr val="FFFFFF"/>
                </a:highlight>
              </a:rPr>
              <a:t>Optimization Problem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AADD0-398A-2C95-1120-7163C9E1F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Primary key performance indicators (KPIs):</a:t>
            </a:r>
          </a:p>
          <a:p>
            <a:pPr marL="457200" lvl="1" indent="0">
              <a:buNone/>
            </a:pPr>
            <a:r>
              <a:rPr lang="en-US"/>
              <a:t>&lt;Formula&gt;</a:t>
            </a:r>
            <a:br>
              <a:rPr lang="en-US" dirty="0"/>
            </a:br>
            <a:endParaRPr lang="en-US" sz="1600"/>
          </a:p>
          <a:p>
            <a:r>
              <a:rPr lang="en-US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Composite score used for ranking policies:</a:t>
            </a:r>
          </a:p>
          <a:p>
            <a:pPr marL="0" indent="0">
              <a:buNone/>
            </a:pP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</a:rPr>
              <a:t>   &lt;Formula&gt;</a:t>
            </a:r>
            <a:endParaRPr lang="en-US" dirty="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en-US" sz="1400" dirty="0">
              <a:solidFill>
                <a:srgbClr val="000000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r>
              <a:rPr lang="en-US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Optional constraint for practical recommendations:</a:t>
            </a:r>
          </a:p>
          <a:p>
            <a:pPr marL="0" indent="0">
              <a:buNone/>
            </a:pP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</a:rPr>
              <a:t>   &lt;Formula&gt;</a:t>
            </a:r>
            <a:endParaRPr lang="en-US" dirty="0">
              <a:solidFill>
                <a:srgbClr val="1F2328"/>
              </a:solidFill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79488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04A92-3EB8-BD66-8E64-23D76E275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Design</a:t>
            </a:r>
            <a:endParaRPr lang="en-US" dirty="0"/>
          </a:p>
        </p:txBody>
      </p:sp>
      <p:pic>
        <p:nvPicPr>
          <p:cNvPr id="12" name="Content Placeholder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5467D02-11A5-8B2C-1798-E86C3EC923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0718" y="1362246"/>
            <a:ext cx="7360670" cy="529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4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CBAFF-C9C7-1DD6-5C47-B084E17CE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851F9-CCA1-14AB-8363-9AAC1AAF6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60259-3A35-571F-0F64-8B8878B22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Verification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1800">
                <a:highlight>
                  <a:srgbClr val="FFFFFF"/>
                </a:highlight>
                <a:ea typeface="+mn-lt"/>
                <a:cs typeface="+mn-lt"/>
              </a:rPr>
              <a:t>Measure the average and 95th percentile batch delay, and total CO2 saving.</a:t>
            </a:r>
            <a:endParaRPr lang="en-US" sz="1800"/>
          </a:p>
          <a:p>
            <a:pPr>
              <a:buFont typeface="Arial"/>
              <a:buChar char="•"/>
            </a:pPr>
            <a:r>
              <a:rPr lang="en-US" sz="1800" dirty="0">
                <a:highlight>
                  <a:srgbClr val="FFFFFF"/>
                </a:highlight>
                <a:ea typeface="+mn-lt"/>
                <a:cs typeface="+mn-lt"/>
              </a:rPr>
              <a:t>Vary training duration, energy consumption, starting </a:t>
            </a:r>
            <a:r>
              <a:rPr lang="en-US" sz="1800">
                <a:highlight>
                  <a:srgbClr val="FFFFFF"/>
                </a:highlight>
                <a:ea typeface="+mn-lt"/>
                <a:cs typeface="+mn-lt"/>
              </a:rPr>
              <a:t>time, region, season, and CO2 threshold.</a:t>
            </a:r>
            <a:endParaRPr lang="en-US" sz="1800">
              <a:highlight>
                <a:srgbClr val="FFFFFF"/>
              </a:highlight>
            </a:endParaRPr>
          </a:p>
          <a:p>
            <a:pPr>
              <a:buFont typeface="Arial"/>
              <a:buChar char="•"/>
            </a:pPr>
            <a:endParaRPr lang="en-US" sz="1600" dirty="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n-US"/>
              <a:t>Validation</a:t>
            </a:r>
          </a:p>
          <a:p>
            <a:r>
              <a:rPr lang="en-US" sz="1800">
                <a:highlight>
                  <a:srgbClr val="FFFFFF"/>
                </a:highlight>
                <a:ea typeface="+mn-lt"/>
                <a:cs typeface="+mn-lt"/>
              </a:rPr>
              <a:t>Validate against model training using the historic data.</a:t>
            </a:r>
          </a:p>
          <a:p>
            <a:r>
              <a:rPr lang="en-US" sz="1800">
                <a:highlight>
                  <a:srgbClr val="FFFFFF"/>
                </a:highlight>
                <a:ea typeface="+mn-lt"/>
                <a:cs typeface="+mn-lt"/>
              </a:rPr>
              <a:t>Using 'Electricity Maps' API for CO2 intensity data.</a:t>
            </a:r>
            <a:endParaRPr lang="en-US" sz="1800"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69066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6F067-778B-6826-07BB-D6A5F9C11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Way Forward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A600D-23A4-4E35-D04E-4CE859FC4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Questions?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19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Greenhouse-Gas-Emission-Aware Optimization  of  Large-Language-Model Training  (Simulation and Modeling II) </vt:lpstr>
      <vt:lpstr>Background</vt:lpstr>
      <vt:lpstr>Project Objectives</vt:lpstr>
      <vt:lpstr>Optimization Problem</vt:lpstr>
      <vt:lpstr>Project Design</vt:lpstr>
      <vt:lpstr>Result Evaluation</vt:lpstr>
      <vt:lpstr>Way Forward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342</cp:revision>
  <dcterms:created xsi:type="dcterms:W3CDTF">2026-05-16T11:41:25Z</dcterms:created>
  <dcterms:modified xsi:type="dcterms:W3CDTF">2026-05-16T15:26:11Z</dcterms:modified>
</cp:coreProperties>
</file>